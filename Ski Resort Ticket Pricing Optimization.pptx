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Quattrocento Sans" charset="-122" pitchFamily="34"/>
      <p:regular r:id="rId15"/>
    </p:embeddedFont>
    <p:embeddedFont>
      <p:font typeface="Liter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b5b826c01ca608a674e2ee2a8509cdf4b7df1f6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945" r="1194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063625"/>
            <a:ext cx="2847975" cy="419100"/>
          </a:xfrm>
          <a:custGeom>
            <a:avLst/>
            <a:gdLst/>
            <a:ahLst/>
            <a:cxnLst/>
            <a:rect l="l" t="t" r="r" b="b"/>
            <a:pathLst>
              <a:path w="2847975" h="419100">
                <a:moveTo>
                  <a:pt x="0" y="0"/>
                </a:moveTo>
                <a:lnTo>
                  <a:pt x="2847975" y="0"/>
                </a:lnTo>
                <a:lnTo>
                  <a:pt x="28479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636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139825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8752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 Resort Ticket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Optimization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3062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Revenue Strategy for Big Mountain Resort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53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33400" y="4683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8"/>
          <p:cNvSpPr/>
          <p:nvPr/>
        </p:nvSpPr>
        <p:spPr>
          <a:xfrm>
            <a:off x="1066800" y="453072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Impact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4759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+$3-5M Annual Revenue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4465" y="453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981152" y="4683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2"/>
          <p:cNvSpPr/>
          <p:nvPr/>
        </p:nvSpPr>
        <p:spPr>
          <a:xfrm>
            <a:off x="4500265" y="453072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Optimization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00265" y="4759325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15-25% Increase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57499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8" name="Text 15"/>
          <p:cNvSpPr/>
          <p:nvPr/>
        </p:nvSpPr>
        <p:spPr>
          <a:xfrm>
            <a:off x="381000" y="59817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81000" y="62103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 Resort Leadership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435530" y="59817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426005" y="62103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354" y="351354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70271" y="0"/>
                </a:moveTo>
                <a:lnTo>
                  <a:pt x="281084" y="0"/>
                </a:lnTo>
                <a:cubicBezTo>
                  <a:pt x="319893" y="0"/>
                  <a:pt x="351354" y="31461"/>
                  <a:pt x="351354" y="70271"/>
                </a:cubicBezTo>
                <a:lnTo>
                  <a:pt x="351354" y="281084"/>
                </a:lnTo>
                <a:cubicBezTo>
                  <a:pt x="351354" y="319893"/>
                  <a:pt x="319893" y="351354"/>
                  <a:pt x="281084" y="351354"/>
                </a:cubicBezTo>
                <a:lnTo>
                  <a:pt x="70271" y="351354"/>
                </a:lnTo>
                <a:cubicBezTo>
                  <a:pt x="31461" y="351354"/>
                  <a:pt x="0" y="319893"/>
                  <a:pt x="0" y="281084"/>
                </a:cubicBezTo>
                <a:lnTo>
                  <a:pt x="0" y="70271"/>
                </a:lnTo>
                <a:cubicBezTo>
                  <a:pt x="0" y="31461"/>
                  <a:pt x="31461" y="0"/>
                  <a:pt x="7027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9193" y="439193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87839" y="0"/>
                </a:moveTo>
                <a:cubicBezTo>
                  <a:pt x="92882" y="0"/>
                  <a:pt x="97515" y="2779"/>
                  <a:pt x="99916" y="7206"/>
                </a:cubicBezTo>
                <a:lnTo>
                  <a:pt x="174030" y="144453"/>
                </a:lnTo>
                <a:cubicBezTo>
                  <a:pt x="176329" y="148708"/>
                  <a:pt x="176226" y="153855"/>
                  <a:pt x="173756" y="158007"/>
                </a:cubicBezTo>
                <a:cubicBezTo>
                  <a:pt x="171285" y="162158"/>
                  <a:pt x="166790" y="164697"/>
                  <a:pt x="161952" y="164697"/>
                </a:cubicBezTo>
                <a:lnTo>
                  <a:pt x="13725" y="164697"/>
                </a:lnTo>
                <a:cubicBezTo>
                  <a:pt x="8887" y="164697"/>
                  <a:pt x="4426" y="162158"/>
                  <a:pt x="1921" y="158007"/>
                </a:cubicBezTo>
                <a:cubicBezTo>
                  <a:pt x="-583" y="153855"/>
                  <a:pt x="-652" y="148708"/>
                  <a:pt x="1647" y="144453"/>
                </a:cubicBezTo>
                <a:lnTo>
                  <a:pt x="75761" y="7206"/>
                </a:lnTo>
                <a:cubicBezTo>
                  <a:pt x="78163" y="2779"/>
                  <a:pt x="82795" y="0"/>
                  <a:pt x="87839" y="0"/>
                </a:cubicBezTo>
                <a:close/>
                <a:moveTo>
                  <a:pt x="87839" y="57644"/>
                </a:moveTo>
                <a:cubicBezTo>
                  <a:pt x="83275" y="57644"/>
                  <a:pt x="79604" y="61315"/>
                  <a:pt x="79604" y="65879"/>
                </a:cubicBezTo>
                <a:lnTo>
                  <a:pt x="79604" y="104308"/>
                </a:lnTo>
                <a:cubicBezTo>
                  <a:pt x="79604" y="108872"/>
                  <a:pt x="83275" y="112543"/>
                  <a:pt x="87839" y="112543"/>
                </a:cubicBezTo>
                <a:cubicBezTo>
                  <a:pt x="92402" y="112543"/>
                  <a:pt x="96073" y="108872"/>
                  <a:pt x="96073" y="104308"/>
                </a:cubicBezTo>
                <a:lnTo>
                  <a:pt x="96073" y="65879"/>
                </a:lnTo>
                <a:cubicBezTo>
                  <a:pt x="96073" y="61315"/>
                  <a:pt x="92402" y="57644"/>
                  <a:pt x="87839" y="57644"/>
                </a:cubicBezTo>
                <a:close/>
                <a:moveTo>
                  <a:pt x="97000" y="131758"/>
                </a:moveTo>
                <a:cubicBezTo>
                  <a:pt x="97208" y="128357"/>
                  <a:pt x="95512" y="125122"/>
                  <a:pt x="92597" y="123359"/>
                </a:cubicBezTo>
                <a:cubicBezTo>
                  <a:pt x="89682" y="121595"/>
                  <a:pt x="86029" y="121595"/>
                  <a:pt x="83114" y="123359"/>
                </a:cubicBezTo>
                <a:cubicBezTo>
                  <a:pt x="80199" y="125122"/>
                  <a:pt x="78503" y="128357"/>
                  <a:pt x="78712" y="131758"/>
                </a:cubicBezTo>
                <a:cubicBezTo>
                  <a:pt x="78503" y="135158"/>
                  <a:pt x="80199" y="138394"/>
                  <a:pt x="83114" y="140157"/>
                </a:cubicBezTo>
                <a:cubicBezTo>
                  <a:pt x="86029" y="141920"/>
                  <a:pt x="89682" y="141920"/>
                  <a:pt x="92597" y="140157"/>
                </a:cubicBezTo>
                <a:cubicBezTo>
                  <a:pt x="95512" y="138394"/>
                  <a:pt x="97208" y="135158"/>
                  <a:pt x="97000" y="13175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08115" y="421625"/>
            <a:ext cx="158109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1354" y="808115"/>
            <a:ext cx="11700104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Identification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922" y="1440553"/>
            <a:ext cx="5621671" cy="3337867"/>
          </a:xfrm>
          <a:custGeom>
            <a:avLst/>
            <a:gdLst/>
            <a:ahLst/>
            <a:cxnLst/>
            <a:rect l="l" t="t" r="r" b="b"/>
            <a:pathLst>
              <a:path w="5621671" h="3337867">
                <a:moveTo>
                  <a:pt x="35135" y="0"/>
                </a:moveTo>
                <a:lnTo>
                  <a:pt x="5516262" y="0"/>
                </a:lnTo>
                <a:cubicBezTo>
                  <a:pt x="5574478" y="0"/>
                  <a:pt x="5621671" y="47194"/>
                  <a:pt x="5621671" y="105410"/>
                </a:cubicBezTo>
                <a:lnTo>
                  <a:pt x="5621671" y="3232458"/>
                </a:lnTo>
                <a:cubicBezTo>
                  <a:pt x="5621671" y="3290674"/>
                  <a:pt x="5574478" y="3337867"/>
                  <a:pt x="5516262" y="3337867"/>
                </a:cubicBezTo>
                <a:lnTo>
                  <a:pt x="35135" y="3337867"/>
                </a:lnTo>
                <a:cubicBezTo>
                  <a:pt x="15731" y="3337867"/>
                  <a:pt x="0" y="3322137"/>
                  <a:pt x="0" y="3302732"/>
                </a:cubicBezTo>
                <a:lnTo>
                  <a:pt x="0" y="35135"/>
                </a:lnTo>
                <a:cubicBezTo>
                  <a:pt x="0" y="15731"/>
                  <a:pt x="15731" y="0"/>
                  <a:pt x="3513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8922" y="1440553"/>
            <a:ext cx="35135" cy="3337867"/>
          </a:xfrm>
          <a:custGeom>
            <a:avLst/>
            <a:gdLst/>
            <a:ahLst/>
            <a:cxnLst/>
            <a:rect l="l" t="t" r="r" b="b"/>
            <a:pathLst>
              <a:path w="35135" h="3337867">
                <a:moveTo>
                  <a:pt x="35135" y="0"/>
                </a:moveTo>
                <a:lnTo>
                  <a:pt x="35135" y="0"/>
                </a:lnTo>
                <a:lnTo>
                  <a:pt x="35135" y="3337867"/>
                </a:lnTo>
                <a:lnTo>
                  <a:pt x="35135" y="3337867"/>
                </a:lnTo>
                <a:cubicBezTo>
                  <a:pt x="15731" y="3337867"/>
                  <a:pt x="0" y="3322137"/>
                  <a:pt x="0" y="3302732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597303" y="1651366"/>
            <a:ext cx="528788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Problem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7303" y="2108127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5519" y="2143262"/>
            <a:ext cx="1141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3793" y="2072991"/>
            <a:ext cx="4875043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Pricing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3793" y="2354075"/>
            <a:ext cx="4866259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prices set at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$81 weekend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$51 weekday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market analysis or competitive benchmarking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7303" y="2986513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2068" y="3021648"/>
            <a:ext cx="14054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3793" y="2951378"/>
            <a:ext cx="4875043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Data-Driven Strategy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3793" y="3232461"/>
            <a:ext cx="4866259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decisions made without quantitative analysis of market dynamics or feature value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7303" y="3864899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0238" y="3900035"/>
            <a:ext cx="14932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3793" y="3829764"/>
            <a:ext cx="4875043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Blind Spot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3793" y="4110847"/>
            <a:ext cx="4866259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without visibility into </a:t>
            </a:r>
            <a:pPr>
              <a:lnSpc>
                <a:spcPct val="140000"/>
              </a:lnSpc>
            </a:pP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330+ competitor resorts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prices ranging $30-$200+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1354" y="4954098"/>
            <a:ext cx="5639239" cy="1440553"/>
          </a:xfrm>
          <a:custGeom>
            <a:avLst/>
            <a:gdLst/>
            <a:ahLst/>
            <a:cxnLst/>
            <a:rect l="l" t="t" r="r" b="b"/>
            <a:pathLst>
              <a:path w="5639239" h="1440553">
                <a:moveTo>
                  <a:pt x="105405" y="0"/>
                </a:moveTo>
                <a:lnTo>
                  <a:pt x="5533834" y="0"/>
                </a:lnTo>
                <a:cubicBezTo>
                  <a:pt x="5592048" y="0"/>
                  <a:pt x="5639239" y="47192"/>
                  <a:pt x="5639239" y="105405"/>
                </a:cubicBezTo>
                <a:lnTo>
                  <a:pt x="5639239" y="1335148"/>
                </a:lnTo>
                <a:cubicBezTo>
                  <a:pt x="5639239" y="1393362"/>
                  <a:pt x="5592048" y="1440553"/>
                  <a:pt x="5533834" y="1440553"/>
                </a:cubicBezTo>
                <a:lnTo>
                  <a:pt x="105405" y="1440553"/>
                </a:lnTo>
                <a:cubicBezTo>
                  <a:pt x="47192" y="1440553"/>
                  <a:pt x="0" y="1393362"/>
                  <a:pt x="0" y="1335148"/>
                </a:cubicBezTo>
                <a:lnTo>
                  <a:pt x="0" y="105405"/>
                </a:lnTo>
                <a:cubicBezTo>
                  <a:pt x="0" y="47231"/>
                  <a:pt x="47231" y="0"/>
                  <a:pt x="1054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2167" y="5164911"/>
            <a:ext cx="5305452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6323" y="5586536"/>
            <a:ext cx="109798" cy="175677"/>
          </a:xfrm>
          <a:custGeom>
            <a:avLst/>
            <a:gdLst/>
            <a:ahLst/>
            <a:cxnLst/>
            <a:rect l="l" t="t" r="r" b="b"/>
            <a:pathLst>
              <a:path w="109798" h="175677">
                <a:moveTo>
                  <a:pt x="46664" y="8235"/>
                </a:moveTo>
                <a:cubicBezTo>
                  <a:pt x="46664" y="3671"/>
                  <a:pt x="50336" y="0"/>
                  <a:pt x="54899" y="0"/>
                </a:cubicBezTo>
                <a:cubicBezTo>
                  <a:pt x="59463" y="0"/>
                  <a:pt x="63134" y="3671"/>
                  <a:pt x="63134" y="8235"/>
                </a:cubicBezTo>
                <a:lnTo>
                  <a:pt x="63134" y="21960"/>
                </a:lnTo>
                <a:lnTo>
                  <a:pt x="82349" y="21960"/>
                </a:lnTo>
                <a:cubicBezTo>
                  <a:pt x="88422" y="21960"/>
                  <a:pt x="93329" y="26866"/>
                  <a:pt x="93329" y="32939"/>
                </a:cubicBezTo>
                <a:cubicBezTo>
                  <a:pt x="93329" y="39013"/>
                  <a:pt x="88422" y="43919"/>
                  <a:pt x="82349" y="43919"/>
                </a:cubicBezTo>
                <a:lnTo>
                  <a:pt x="42924" y="43919"/>
                </a:lnTo>
                <a:cubicBezTo>
                  <a:pt x="34381" y="43919"/>
                  <a:pt x="27450" y="50850"/>
                  <a:pt x="27450" y="59394"/>
                </a:cubicBezTo>
                <a:cubicBezTo>
                  <a:pt x="27450" y="67114"/>
                  <a:pt x="33111" y="73633"/>
                  <a:pt x="40728" y="74731"/>
                </a:cubicBezTo>
                <a:lnTo>
                  <a:pt x="72158" y="79226"/>
                </a:lnTo>
                <a:cubicBezTo>
                  <a:pt x="90618" y="81868"/>
                  <a:pt x="104308" y="97652"/>
                  <a:pt x="104308" y="116283"/>
                </a:cubicBezTo>
                <a:cubicBezTo>
                  <a:pt x="104308" y="136973"/>
                  <a:pt x="87530" y="153718"/>
                  <a:pt x="66874" y="153718"/>
                </a:cubicBezTo>
                <a:lnTo>
                  <a:pt x="63134" y="153718"/>
                </a:lnTo>
                <a:lnTo>
                  <a:pt x="63134" y="167442"/>
                </a:lnTo>
                <a:cubicBezTo>
                  <a:pt x="63134" y="172006"/>
                  <a:pt x="59463" y="175677"/>
                  <a:pt x="54899" y="175677"/>
                </a:cubicBezTo>
                <a:cubicBezTo>
                  <a:pt x="50336" y="175677"/>
                  <a:pt x="46664" y="172006"/>
                  <a:pt x="46664" y="167442"/>
                </a:cubicBezTo>
                <a:lnTo>
                  <a:pt x="46664" y="153718"/>
                </a:lnTo>
                <a:lnTo>
                  <a:pt x="21960" y="153718"/>
                </a:lnTo>
                <a:cubicBezTo>
                  <a:pt x="15886" y="153718"/>
                  <a:pt x="10980" y="148811"/>
                  <a:pt x="10980" y="142738"/>
                </a:cubicBezTo>
                <a:cubicBezTo>
                  <a:pt x="10980" y="136665"/>
                  <a:pt x="15886" y="131758"/>
                  <a:pt x="21960" y="131758"/>
                </a:cubicBezTo>
                <a:lnTo>
                  <a:pt x="66874" y="131758"/>
                </a:lnTo>
                <a:cubicBezTo>
                  <a:pt x="75418" y="131758"/>
                  <a:pt x="82349" y="124827"/>
                  <a:pt x="82349" y="116283"/>
                </a:cubicBezTo>
                <a:cubicBezTo>
                  <a:pt x="82349" y="108563"/>
                  <a:pt x="76687" y="102044"/>
                  <a:pt x="69070" y="100946"/>
                </a:cubicBezTo>
                <a:lnTo>
                  <a:pt x="37640" y="96451"/>
                </a:lnTo>
                <a:cubicBezTo>
                  <a:pt x="19180" y="93843"/>
                  <a:pt x="5490" y="78025"/>
                  <a:pt x="5490" y="59394"/>
                </a:cubicBezTo>
                <a:cubicBezTo>
                  <a:pt x="5490" y="38738"/>
                  <a:pt x="22268" y="21960"/>
                  <a:pt x="42924" y="21960"/>
                </a:cubicBezTo>
                <a:lnTo>
                  <a:pt x="46664" y="21960"/>
                </a:lnTo>
                <a:lnTo>
                  <a:pt x="46664" y="823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826324" y="5551401"/>
            <a:ext cx="2345291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Leakage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324" y="5762213"/>
            <a:ext cx="2345291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opportunity to maximize revenue per visitor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2160" y="5586536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87839" y="175677"/>
                </a:moveTo>
                <a:cubicBezTo>
                  <a:pt x="136318" y="175677"/>
                  <a:pt x="175677" y="136318"/>
                  <a:pt x="175677" y="87839"/>
                </a:cubicBezTo>
                <a:cubicBezTo>
                  <a:pt x="175677" y="39359"/>
                  <a:pt x="136318" y="0"/>
                  <a:pt x="87839" y="0"/>
                </a:cubicBezTo>
                <a:cubicBezTo>
                  <a:pt x="39359" y="0"/>
                  <a:pt x="0" y="39359"/>
                  <a:pt x="0" y="87839"/>
                </a:cubicBezTo>
                <a:cubicBezTo>
                  <a:pt x="0" y="136318"/>
                  <a:pt x="39359" y="175677"/>
                  <a:pt x="87839" y="175677"/>
                </a:cubicBezTo>
                <a:close/>
                <a:moveTo>
                  <a:pt x="87839" y="60389"/>
                </a:moveTo>
                <a:cubicBezTo>
                  <a:pt x="81765" y="60389"/>
                  <a:pt x="76859" y="65296"/>
                  <a:pt x="76859" y="71369"/>
                </a:cubicBezTo>
                <a:cubicBezTo>
                  <a:pt x="76859" y="75932"/>
                  <a:pt x="73187" y="79604"/>
                  <a:pt x="68624" y="79604"/>
                </a:cubicBezTo>
                <a:cubicBezTo>
                  <a:pt x="64060" y="79604"/>
                  <a:pt x="60389" y="75932"/>
                  <a:pt x="60389" y="71369"/>
                </a:cubicBezTo>
                <a:cubicBezTo>
                  <a:pt x="60389" y="56203"/>
                  <a:pt x="72673" y="43919"/>
                  <a:pt x="87839" y="43919"/>
                </a:cubicBezTo>
                <a:cubicBezTo>
                  <a:pt x="103005" y="43919"/>
                  <a:pt x="115288" y="56203"/>
                  <a:pt x="115288" y="71369"/>
                </a:cubicBezTo>
                <a:cubicBezTo>
                  <a:pt x="115288" y="87564"/>
                  <a:pt x="102936" y="94427"/>
                  <a:pt x="96073" y="96931"/>
                </a:cubicBezTo>
                <a:lnTo>
                  <a:pt x="96073" y="98235"/>
                </a:lnTo>
                <a:cubicBezTo>
                  <a:pt x="96073" y="102799"/>
                  <a:pt x="92402" y="106470"/>
                  <a:pt x="87839" y="106470"/>
                </a:cubicBezTo>
                <a:cubicBezTo>
                  <a:pt x="83275" y="106470"/>
                  <a:pt x="79604" y="102799"/>
                  <a:pt x="79604" y="98235"/>
                </a:cubicBezTo>
                <a:lnTo>
                  <a:pt x="79604" y="95456"/>
                </a:lnTo>
                <a:cubicBezTo>
                  <a:pt x="79604" y="88422"/>
                  <a:pt x="84682" y="83378"/>
                  <a:pt x="89932" y="81662"/>
                </a:cubicBezTo>
                <a:cubicBezTo>
                  <a:pt x="92128" y="80942"/>
                  <a:pt x="94461" y="79775"/>
                  <a:pt x="96176" y="78128"/>
                </a:cubicBezTo>
                <a:cubicBezTo>
                  <a:pt x="97652" y="76687"/>
                  <a:pt x="98818" y="74697"/>
                  <a:pt x="98818" y="71403"/>
                </a:cubicBezTo>
                <a:cubicBezTo>
                  <a:pt x="98818" y="65330"/>
                  <a:pt x="93912" y="60423"/>
                  <a:pt x="87839" y="60423"/>
                </a:cubicBezTo>
                <a:close/>
                <a:moveTo>
                  <a:pt x="76859" y="126268"/>
                </a:moveTo>
                <a:cubicBezTo>
                  <a:pt x="76859" y="120208"/>
                  <a:pt x="81779" y="115288"/>
                  <a:pt x="87839" y="115288"/>
                </a:cubicBezTo>
                <a:cubicBezTo>
                  <a:pt x="93899" y="115288"/>
                  <a:pt x="98818" y="120208"/>
                  <a:pt x="98818" y="126268"/>
                </a:cubicBezTo>
                <a:cubicBezTo>
                  <a:pt x="98818" y="132328"/>
                  <a:pt x="93899" y="137248"/>
                  <a:pt x="87839" y="137248"/>
                </a:cubicBezTo>
                <a:cubicBezTo>
                  <a:pt x="81779" y="137248"/>
                  <a:pt x="76859" y="132328"/>
                  <a:pt x="76859" y="12626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3521414" y="5551401"/>
            <a:ext cx="232772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Unknown Elasticity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21414" y="5762213"/>
            <a:ext cx="2327723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quantified understanding of price sensitivity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3328" y="1440553"/>
            <a:ext cx="5639239" cy="3689222"/>
          </a:xfrm>
          <a:custGeom>
            <a:avLst/>
            <a:gdLst/>
            <a:ahLst/>
            <a:cxnLst/>
            <a:rect l="l" t="t" r="r" b="b"/>
            <a:pathLst>
              <a:path w="5639239" h="3689222">
                <a:moveTo>
                  <a:pt x="105401" y="0"/>
                </a:moveTo>
                <a:lnTo>
                  <a:pt x="5533838" y="0"/>
                </a:lnTo>
                <a:cubicBezTo>
                  <a:pt x="5592050" y="0"/>
                  <a:pt x="5639239" y="47190"/>
                  <a:pt x="5639239" y="105401"/>
                </a:cubicBezTo>
                <a:lnTo>
                  <a:pt x="5639239" y="3583821"/>
                </a:lnTo>
                <a:cubicBezTo>
                  <a:pt x="5639239" y="3642032"/>
                  <a:pt x="5592050" y="3689222"/>
                  <a:pt x="5533838" y="3689222"/>
                </a:cubicBezTo>
                <a:lnTo>
                  <a:pt x="105401" y="3689222"/>
                </a:lnTo>
                <a:cubicBezTo>
                  <a:pt x="47190" y="3689222"/>
                  <a:pt x="0" y="3642032"/>
                  <a:pt x="0" y="3583821"/>
                </a:cubicBezTo>
                <a:lnTo>
                  <a:pt x="0" y="105401"/>
                </a:lnTo>
                <a:cubicBezTo>
                  <a:pt x="0" y="47190"/>
                  <a:pt x="47190" y="0"/>
                  <a:pt x="10540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14140" y="1651366"/>
            <a:ext cx="5323020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 Metrics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4140" y="2108127"/>
            <a:ext cx="5217614" cy="843251"/>
          </a:xfrm>
          <a:custGeom>
            <a:avLst/>
            <a:gdLst/>
            <a:ahLst/>
            <a:cxnLst/>
            <a:rect l="l" t="t" r="r" b="b"/>
            <a:pathLst>
              <a:path w="5217614" h="843251">
                <a:moveTo>
                  <a:pt x="70268" y="0"/>
                </a:moveTo>
                <a:lnTo>
                  <a:pt x="5147346" y="0"/>
                </a:lnTo>
                <a:cubicBezTo>
                  <a:pt x="5186154" y="0"/>
                  <a:pt x="5217614" y="31460"/>
                  <a:pt x="5217614" y="70268"/>
                </a:cubicBezTo>
                <a:lnTo>
                  <a:pt x="5217614" y="772983"/>
                </a:lnTo>
                <a:cubicBezTo>
                  <a:pt x="5217614" y="811791"/>
                  <a:pt x="5186154" y="843251"/>
                  <a:pt x="5147346" y="843251"/>
                </a:cubicBezTo>
                <a:lnTo>
                  <a:pt x="70268" y="843251"/>
                </a:lnTo>
                <a:cubicBezTo>
                  <a:pt x="31460" y="843251"/>
                  <a:pt x="0" y="811791"/>
                  <a:pt x="0" y="772983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54682" y="2248669"/>
            <a:ext cx="1396634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Ticket Price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4682" y="2494617"/>
            <a:ext cx="1458121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17624" y="2371643"/>
            <a:ext cx="355746" cy="316219"/>
          </a:xfrm>
          <a:custGeom>
            <a:avLst/>
            <a:gdLst/>
            <a:ahLst/>
            <a:cxnLst/>
            <a:rect l="l" t="t" r="r" b="b"/>
            <a:pathLst>
              <a:path w="355746" h="316219">
                <a:moveTo>
                  <a:pt x="0" y="79055"/>
                </a:moveTo>
                <a:cubicBezTo>
                  <a:pt x="0" y="57253"/>
                  <a:pt x="17726" y="39527"/>
                  <a:pt x="39527" y="39527"/>
                </a:cubicBezTo>
                <a:lnTo>
                  <a:pt x="316219" y="39527"/>
                </a:lnTo>
                <a:cubicBezTo>
                  <a:pt x="338021" y="39527"/>
                  <a:pt x="355746" y="57253"/>
                  <a:pt x="355746" y="79055"/>
                </a:cubicBezTo>
                <a:lnTo>
                  <a:pt x="355746" y="118582"/>
                </a:lnTo>
                <a:cubicBezTo>
                  <a:pt x="355746" y="124017"/>
                  <a:pt x="351176" y="128279"/>
                  <a:pt x="346050" y="130070"/>
                </a:cubicBezTo>
                <a:cubicBezTo>
                  <a:pt x="334439" y="134084"/>
                  <a:pt x="326101" y="145140"/>
                  <a:pt x="326101" y="158110"/>
                </a:cubicBezTo>
                <a:cubicBezTo>
                  <a:pt x="326101" y="171079"/>
                  <a:pt x="334439" y="182135"/>
                  <a:pt x="346050" y="186149"/>
                </a:cubicBezTo>
                <a:cubicBezTo>
                  <a:pt x="351176" y="187940"/>
                  <a:pt x="355746" y="192202"/>
                  <a:pt x="355746" y="197637"/>
                </a:cubicBezTo>
                <a:lnTo>
                  <a:pt x="355746" y="237164"/>
                </a:lnTo>
                <a:cubicBezTo>
                  <a:pt x="355746" y="258966"/>
                  <a:pt x="338021" y="276692"/>
                  <a:pt x="316219" y="276692"/>
                </a:cubicBezTo>
                <a:lnTo>
                  <a:pt x="39527" y="276692"/>
                </a:lnTo>
                <a:cubicBezTo>
                  <a:pt x="17726" y="276692"/>
                  <a:pt x="0" y="258966"/>
                  <a:pt x="0" y="237164"/>
                </a:cubicBezTo>
                <a:lnTo>
                  <a:pt x="0" y="197637"/>
                </a:lnTo>
                <a:cubicBezTo>
                  <a:pt x="0" y="192202"/>
                  <a:pt x="4570" y="187940"/>
                  <a:pt x="9697" y="186149"/>
                </a:cubicBezTo>
                <a:cubicBezTo>
                  <a:pt x="21308" y="182135"/>
                  <a:pt x="29646" y="171079"/>
                  <a:pt x="29646" y="158110"/>
                </a:cubicBezTo>
                <a:cubicBezTo>
                  <a:pt x="29646" y="145140"/>
                  <a:pt x="21308" y="134084"/>
                  <a:pt x="9697" y="130070"/>
                </a:cubicBezTo>
                <a:cubicBezTo>
                  <a:pt x="4570" y="128279"/>
                  <a:pt x="0" y="124017"/>
                  <a:pt x="0" y="118582"/>
                </a:cubicBezTo>
                <a:lnTo>
                  <a:pt x="0" y="79055"/>
                </a:lnTo>
                <a:close/>
              </a:path>
            </a:pathLst>
          </a:custGeom>
          <a:solidFill>
            <a:srgbClr val="38B2AC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14140" y="3091919"/>
            <a:ext cx="5217614" cy="843251"/>
          </a:xfrm>
          <a:custGeom>
            <a:avLst/>
            <a:gdLst/>
            <a:ahLst/>
            <a:cxnLst/>
            <a:rect l="l" t="t" r="r" b="b"/>
            <a:pathLst>
              <a:path w="5217614" h="843251">
                <a:moveTo>
                  <a:pt x="70268" y="0"/>
                </a:moveTo>
                <a:lnTo>
                  <a:pt x="5147346" y="0"/>
                </a:lnTo>
                <a:cubicBezTo>
                  <a:pt x="5186154" y="0"/>
                  <a:pt x="5217614" y="31460"/>
                  <a:pt x="5217614" y="70268"/>
                </a:cubicBezTo>
                <a:lnTo>
                  <a:pt x="5217614" y="772983"/>
                </a:lnTo>
                <a:cubicBezTo>
                  <a:pt x="5217614" y="811791"/>
                  <a:pt x="5186154" y="843251"/>
                  <a:pt x="5147346" y="843251"/>
                </a:cubicBezTo>
                <a:lnTo>
                  <a:pt x="70268" y="843251"/>
                </a:lnTo>
                <a:cubicBezTo>
                  <a:pt x="31460" y="843251"/>
                  <a:pt x="0" y="811791"/>
                  <a:pt x="0" y="772983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54682" y="3232461"/>
            <a:ext cx="138785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Ticket Price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4682" y="3478409"/>
            <a:ext cx="1449337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17624" y="3355435"/>
            <a:ext cx="355746" cy="316219"/>
          </a:xfrm>
          <a:custGeom>
            <a:avLst/>
            <a:gdLst/>
            <a:ahLst/>
            <a:cxnLst/>
            <a:rect l="l" t="t" r="r" b="b"/>
            <a:pathLst>
              <a:path w="355746" h="316219">
                <a:moveTo>
                  <a:pt x="0" y="79055"/>
                </a:moveTo>
                <a:cubicBezTo>
                  <a:pt x="0" y="57253"/>
                  <a:pt x="17726" y="39527"/>
                  <a:pt x="39527" y="39527"/>
                </a:cubicBezTo>
                <a:lnTo>
                  <a:pt x="316219" y="39527"/>
                </a:lnTo>
                <a:cubicBezTo>
                  <a:pt x="338021" y="39527"/>
                  <a:pt x="355746" y="57253"/>
                  <a:pt x="355746" y="79055"/>
                </a:cubicBezTo>
                <a:lnTo>
                  <a:pt x="355746" y="118582"/>
                </a:lnTo>
                <a:cubicBezTo>
                  <a:pt x="355746" y="124017"/>
                  <a:pt x="351176" y="128279"/>
                  <a:pt x="346050" y="130070"/>
                </a:cubicBezTo>
                <a:cubicBezTo>
                  <a:pt x="334439" y="134084"/>
                  <a:pt x="326101" y="145140"/>
                  <a:pt x="326101" y="158110"/>
                </a:cubicBezTo>
                <a:cubicBezTo>
                  <a:pt x="326101" y="171079"/>
                  <a:pt x="334439" y="182135"/>
                  <a:pt x="346050" y="186149"/>
                </a:cubicBezTo>
                <a:cubicBezTo>
                  <a:pt x="351176" y="187940"/>
                  <a:pt x="355746" y="192202"/>
                  <a:pt x="355746" y="197637"/>
                </a:cubicBezTo>
                <a:lnTo>
                  <a:pt x="355746" y="237164"/>
                </a:lnTo>
                <a:cubicBezTo>
                  <a:pt x="355746" y="258966"/>
                  <a:pt x="338021" y="276692"/>
                  <a:pt x="316219" y="276692"/>
                </a:cubicBezTo>
                <a:lnTo>
                  <a:pt x="39527" y="276692"/>
                </a:lnTo>
                <a:cubicBezTo>
                  <a:pt x="17726" y="276692"/>
                  <a:pt x="0" y="258966"/>
                  <a:pt x="0" y="237164"/>
                </a:cubicBezTo>
                <a:lnTo>
                  <a:pt x="0" y="197637"/>
                </a:lnTo>
                <a:cubicBezTo>
                  <a:pt x="0" y="192202"/>
                  <a:pt x="4570" y="187940"/>
                  <a:pt x="9697" y="186149"/>
                </a:cubicBezTo>
                <a:cubicBezTo>
                  <a:pt x="21308" y="182135"/>
                  <a:pt x="29646" y="171079"/>
                  <a:pt x="29646" y="158110"/>
                </a:cubicBezTo>
                <a:cubicBezTo>
                  <a:pt x="29646" y="145140"/>
                  <a:pt x="21308" y="134084"/>
                  <a:pt x="9697" y="130070"/>
                </a:cubicBezTo>
                <a:cubicBezTo>
                  <a:pt x="4570" y="128279"/>
                  <a:pt x="0" y="124017"/>
                  <a:pt x="0" y="118582"/>
                </a:cubicBezTo>
                <a:lnTo>
                  <a:pt x="0" y="79055"/>
                </a:lnTo>
                <a:close/>
              </a:path>
            </a:pathLst>
          </a:custGeom>
          <a:solidFill>
            <a:srgbClr val="38B2AC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14140" y="4075712"/>
            <a:ext cx="5217614" cy="843251"/>
          </a:xfrm>
          <a:custGeom>
            <a:avLst/>
            <a:gdLst/>
            <a:ahLst/>
            <a:cxnLst/>
            <a:rect l="l" t="t" r="r" b="b"/>
            <a:pathLst>
              <a:path w="5217614" h="843251">
                <a:moveTo>
                  <a:pt x="70268" y="0"/>
                </a:moveTo>
                <a:lnTo>
                  <a:pt x="5147346" y="0"/>
                </a:lnTo>
                <a:cubicBezTo>
                  <a:pt x="5186154" y="0"/>
                  <a:pt x="5217614" y="31460"/>
                  <a:pt x="5217614" y="70268"/>
                </a:cubicBezTo>
                <a:lnTo>
                  <a:pt x="5217614" y="772983"/>
                </a:lnTo>
                <a:cubicBezTo>
                  <a:pt x="5217614" y="811791"/>
                  <a:pt x="5186154" y="843251"/>
                  <a:pt x="5147346" y="843251"/>
                </a:cubicBezTo>
                <a:lnTo>
                  <a:pt x="70268" y="843251"/>
                </a:lnTo>
                <a:cubicBezTo>
                  <a:pt x="31460" y="843251"/>
                  <a:pt x="0" y="811791"/>
                  <a:pt x="0" y="772983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54682" y="4216254"/>
            <a:ext cx="975009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Visitors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54682" y="4462202"/>
            <a:ext cx="1036496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350K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97860" y="4339228"/>
            <a:ext cx="395274" cy="316219"/>
          </a:xfrm>
          <a:custGeom>
            <a:avLst/>
            <a:gdLst/>
            <a:ahLst/>
            <a:cxnLst/>
            <a:rect l="l" t="t" r="r" b="b"/>
            <a:pathLst>
              <a:path w="395274" h="316219">
                <a:moveTo>
                  <a:pt x="197637" y="9882"/>
                </a:moveTo>
                <a:cubicBezTo>
                  <a:pt x="233087" y="9882"/>
                  <a:pt x="261869" y="38663"/>
                  <a:pt x="261869" y="74114"/>
                </a:cubicBezTo>
                <a:cubicBezTo>
                  <a:pt x="261869" y="109564"/>
                  <a:pt x="233087" y="138346"/>
                  <a:pt x="197637" y="138346"/>
                </a:cubicBezTo>
                <a:cubicBezTo>
                  <a:pt x="162186" y="138346"/>
                  <a:pt x="133405" y="109564"/>
                  <a:pt x="133405" y="74114"/>
                </a:cubicBezTo>
                <a:cubicBezTo>
                  <a:pt x="133405" y="38663"/>
                  <a:pt x="162186" y="9882"/>
                  <a:pt x="197637" y="9882"/>
                </a:cubicBezTo>
                <a:close/>
                <a:moveTo>
                  <a:pt x="59291" y="54350"/>
                </a:moveTo>
                <a:cubicBezTo>
                  <a:pt x="83834" y="54350"/>
                  <a:pt x="103759" y="74276"/>
                  <a:pt x="103759" y="98818"/>
                </a:cubicBezTo>
                <a:cubicBezTo>
                  <a:pt x="103759" y="123361"/>
                  <a:pt x="83834" y="143287"/>
                  <a:pt x="59291" y="143287"/>
                </a:cubicBezTo>
                <a:cubicBezTo>
                  <a:pt x="34748" y="143287"/>
                  <a:pt x="14823" y="123361"/>
                  <a:pt x="14823" y="98818"/>
                </a:cubicBezTo>
                <a:cubicBezTo>
                  <a:pt x="14823" y="74276"/>
                  <a:pt x="34748" y="54350"/>
                  <a:pt x="59291" y="54350"/>
                </a:cubicBezTo>
                <a:close/>
                <a:moveTo>
                  <a:pt x="0" y="256928"/>
                </a:moveTo>
                <a:cubicBezTo>
                  <a:pt x="0" y="213263"/>
                  <a:pt x="35389" y="177873"/>
                  <a:pt x="79055" y="177873"/>
                </a:cubicBezTo>
                <a:cubicBezTo>
                  <a:pt x="86960" y="177873"/>
                  <a:pt x="94619" y="179047"/>
                  <a:pt x="101845" y="181208"/>
                </a:cubicBezTo>
                <a:cubicBezTo>
                  <a:pt x="81525" y="203937"/>
                  <a:pt x="69173" y="233953"/>
                  <a:pt x="69173" y="266810"/>
                </a:cubicBezTo>
                <a:lnTo>
                  <a:pt x="69173" y="276692"/>
                </a:lnTo>
                <a:cubicBezTo>
                  <a:pt x="69173" y="283732"/>
                  <a:pt x="70655" y="290403"/>
                  <a:pt x="73311" y="296455"/>
                </a:cubicBezTo>
                <a:lnTo>
                  <a:pt x="19764" y="296455"/>
                </a:lnTo>
                <a:cubicBezTo>
                  <a:pt x="8832" y="296455"/>
                  <a:pt x="0" y="287623"/>
                  <a:pt x="0" y="276692"/>
                </a:cubicBezTo>
                <a:lnTo>
                  <a:pt x="0" y="256928"/>
                </a:lnTo>
                <a:close/>
                <a:moveTo>
                  <a:pt x="321963" y="296455"/>
                </a:moveTo>
                <a:cubicBezTo>
                  <a:pt x="324619" y="290403"/>
                  <a:pt x="326101" y="283732"/>
                  <a:pt x="326101" y="276692"/>
                </a:cubicBezTo>
                <a:lnTo>
                  <a:pt x="326101" y="266810"/>
                </a:lnTo>
                <a:cubicBezTo>
                  <a:pt x="326101" y="233953"/>
                  <a:pt x="313749" y="203937"/>
                  <a:pt x="293429" y="181208"/>
                </a:cubicBezTo>
                <a:cubicBezTo>
                  <a:pt x="300655" y="179047"/>
                  <a:pt x="308314" y="177873"/>
                  <a:pt x="316219" y="177873"/>
                </a:cubicBezTo>
                <a:cubicBezTo>
                  <a:pt x="359884" y="177873"/>
                  <a:pt x="395274" y="213263"/>
                  <a:pt x="395274" y="256928"/>
                </a:cubicBezTo>
                <a:lnTo>
                  <a:pt x="395274" y="276692"/>
                </a:lnTo>
                <a:cubicBezTo>
                  <a:pt x="395274" y="287623"/>
                  <a:pt x="386442" y="296455"/>
                  <a:pt x="375510" y="296455"/>
                </a:cubicBezTo>
                <a:lnTo>
                  <a:pt x="321963" y="296455"/>
                </a:lnTo>
                <a:close/>
                <a:moveTo>
                  <a:pt x="291514" y="98818"/>
                </a:moveTo>
                <a:cubicBezTo>
                  <a:pt x="291514" y="74276"/>
                  <a:pt x="311440" y="54350"/>
                  <a:pt x="335983" y="54350"/>
                </a:cubicBezTo>
                <a:cubicBezTo>
                  <a:pt x="360525" y="54350"/>
                  <a:pt x="380451" y="74276"/>
                  <a:pt x="380451" y="98818"/>
                </a:cubicBezTo>
                <a:cubicBezTo>
                  <a:pt x="380451" y="123361"/>
                  <a:pt x="360525" y="143287"/>
                  <a:pt x="335983" y="143287"/>
                </a:cubicBezTo>
                <a:cubicBezTo>
                  <a:pt x="311440" y="143287"/>
                  <a:pt x="291514" y="123361"/>
                  <a:pt x="291514" y="98818"/>
                </a:cubicBezTo>
                <a:close/>
                <a:moveTo>
                  <a:pt x="98818" y="266810"/>
                </a:moveTo>
                <a:cubicBezTo>
                  <a:pt x="98818" y="212213"/>
                  <a:pt x="143040" y="167991"/>
                  <a:pt x="197637" y="167991"/>
                </a:cubicBezTo>
                <a:cubicBezTo>
                  <a:pt x="252234" y="167991"/>
                  <a:pt x="296455" y="212213"/>
                  <a:pt x="296455" y="266810"/>
                </a:cubicBezTo>
                <a:lnTo>
                  <a:pt x="296455" y="276692"/>
                </a:lnTo>
                <a:cubicBezTo>
                  <a:pt x="296455" y="287623"/>
                  <a:pt x="287623" y="296455"/>
                  <a:pt x="276692" y="296455"/>
                </a:cubicBezTo>
                <a:lnTo>
                  <a:pt x="118582" y="296455"/>
                </a:lnTo>
                <a:cubicBezTo>
                  <a:pt x="107650" y="296455"/>
                  <a:pt x="98818" y="287623"/>
                  <a:pt x="98818" y="276692"/>
                </a:cubicBezTo>
                <a:lnTo>
                  <a:pt x="98818" y="266810"/>
                </a:lnTo>
                <a:close/>
              </a:path>
            </a:pathLst>
          </a:custGeom>
          <a:solidFill>
            <a:srgbClr val="38B2AC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6256" y="5308380"/>
            <a:ext cx="5636311" cy="1297084"/>
          </a:xfrm>
          <a:custGeom>
            <a:avLst/>
            <a:gdLst/>
            <a:ahLst/>
            <a:cxnLst/>
            <a:rect l="l" t="t" r="r" b="b"/>
            <a:pathLst>
              <a:path w="5636311" h="1297084">
                <a:moveTo>
                  <a:pt x="105401" y="0"/>
                </a:moveTo>
                <a:lnTo>
                  <a:pt x="5530910" y="0"/>
                </a:lnTo>
                <a:cubicBezTo>
                  <a:pt x="5589122" y="0"/>
                  <a:pt x="5636311" y="47190"/>
                  <a:pt x="5636311" y="105401"/>
                </a:cubicBezTo>
                <a:lnTo>
                  <a:pt x="5636311" y="1191683"/>
                </a:lnTo>
                <a:cubicBezTo>
                  <a:pt x="5636311" y="1249894"/>
                  <a:pt x="5589122" y="1297084"/>
                  <a:pt x="5530910" y="1297084"/>
                </a:cubicBezTo>
                <a:lnTo>
                  <a:pt x="105401" y="1297084"/>
                </a:lnTo>
                <a:cubicBezTo>
                  <a:pt x="47190" y="1297084"/>
                  <a:pt x="0" y="1249894"/>
                  <a:pt x="0" y="1191683"/>
                </a:cubicBezTo>
                <a:lnTo>
                  <a:pt x="0" y="105401"/>
                </a:lnTo>
                <a:cubicBezTo>
                  <a:pt x="0" y="47190"/>
                  <a:pt x="47190" y="0"/>
                  <a:pt x="105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2700" y="5539689"/>
            <a:ext cx="158110" cy="210813"/>
          </a:xfrm>
          <a:custGeom>
            <a:avLst/>
            <a:gdLst/>
            <a:ahLst/>
            <a:cxnLst/>
            <a:rect l="l" t="t" r="r" b="b"/>
            <a:pathLst>
              <a:path w="158110" h="210813">
                <a:moveTo>
                  <a:pt x="120600" y="158110"/>
                </a:moveTo>
                <a:cubicBezTo>
                  <a:pt x="123605" y="148928"/>
                  <a:pt x="129617" y="140610"/>
                  <a:pt x="136411" y="133446"/>
                </a:cubicBezTo>
                <a:cubicBezTo>
                  <a:pt x="149875" y="119282"/>
                  <a:pt x="158110" y="100136"/>
                  <a:pt x="158110" y="79055"/>
                </a:cubicBezTo>
                <a:cubicBezTo>
                  <a:pt x="158110" y="35410"/>
                  <a:pt x="122700" y="0"/>
                  <a:pt x="79055" y="0"/>
                </a:cubicBezTo>
                <a:cubicBezTo>
                  <a:pt x="35410" y="0"/>
                  <a:pt x="0" y="35410"/>
                  <a:pt x="0" y="79055"/>
                </a:cubicBezTo>
                <a:cubicBezTo>
                  <a:pt x="0" y="100136"/>
                  <a:pt x="8235" y="119282"/>
                  <a:pt x="21699" y="133446"/>
                </a:cubicBezTo>
                <a:cubicBezTo>
                  <a:pt x="28493" y="140610"/>
                  <a:pt x="34545" y="148928"/>
                  <a:pt x="37510" y="158110"/>
                </a:cubicBezTo>
                <a:lnTo>
                  <a:pt x="120559" y="158110"/>
                </a:lnTo>
                <a:close/>
                <a:moveTo>
                  <a:pt x="118582" y="177873"/>
                </a:moveTo>
                <a:lnTo>
                  <a:pt x="39527" y="177873"/>
                </a:lnTo>
                <a:lnTo>
                  <a:pt x="39527" y="184461"/>
                </a:lnTo>
                <a:cubicBezTo>
                  <a:pt x="39527" y="202660"/>
                  <a:pt x="54268" y="217401"/>
                  <a:pt x="72467" y="217401"/>
                </a:cubicBezTo>
                <a:lnTo>
                  <a:pt x="85643" y="217401"/>
                </a:lnTo>
                <a:cubicBezTo>
                  <a:pt x="103842" y="217401"/>
                  <a:pt x="118582" y="202660"/>
                  <a:pt x="118582" y="184461"/>
                </a:cubicBezTo>
                <a:lnTo>
                  <a:pt x="118582" y="177873"/>
                </a:lnTo>
                <a:close/>
                <a:moveTo>
                  <a:pt x="75761" y="46115"/>
                </a:moveTo>
                <a:cubicBezTo>
                  <a:pt x="59373" y="46115"/>
                  <a:pt x="46115" y="59373"/>
                  <a:pt x="46115" y="75761"/>
                </a:cubicBezTo>
                <a:cubicBezTo>
                  <a:pt x="46115" y="81237"/>
                  <a:pt x="41710" y="85643"/>
                  <a:pt x="36233" y="85643"/>
                </a:cubicBezTo>
                <a:cubicBezTo>
                  <a:pt x="30757" y="85643"/>
                  <a:pt x="26352" y="81237"/>
                  <a:pt x="26352" y="75761"/>
                </a:cubicBezTo>
                <a:cubicBezTo>
                  <a:pt x="26352" y="48462"/>
                  <a:pt x="48462" y="26352"/>
                  <a:pt x="75761" y="26352"/>
                </a:cubicBezTo>
                <a:cubicBezTo>
                  <a:pt x="81237" y="26352"/>
                  <a:pt x="85643" y="30757"/>
                  <a:pt x="85643" y="36233"/>
                </a:cubicBezTo>
                <a:cubicBezTo>
                  <a:pt x="85643" y="41710"/>
                  <a:pt x="81237" y="46115"/>
                  <a:pt x="75761" y="461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6788919" y="5522122"/>
            <a:ext cx="1203389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9997" y="5873476"/>
            <a:ext cx="5287885" cy="51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data-driven pricing, Big Mountain is potentially leaving </a:t>
            </a:r>
            <a:pPr>
              <a:lnSpc>
                <a:spcPct val="140000"/>
              </a:lnSpc>
            </a:pPr>
            <a:r>
              <a:rPr lang="en-US" sz="124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in revenue</a:t>
            </a:r>
            <a:pPr>
              <a:lnSpc>
                <a:spcPct val="140000"/>
              </a:lnSpc>
            </a:pPr>
            <a:r>
              <a:rPr lang="en-US" sz="124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table while competitors optimize their strategies.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689" y="321689"/>
            <a:ext cx="321689" cy="321689"/>
          </a:xfrm>
          <a:custGeom>
            <a:avLst/>
            <a:gdLst/>
            <a:ahLst/>
            <a:cxnLst/>
            <a:rect l="l" t="t" r="r" b="b"/>
            <a:pathLst>
              <a:path w="321689" h="321689">
                <a:moveTo>
                  <a:pt x="64338" y="0"/>
                </a:moveTo>
                <a:lnTo>
                  <a:pt x="257351" y="0"/>
                </a:lnTo>
                <a:cubicBezTo>
                  <a:pt x="292884" y="0"/>
                  <a:pt x="321689" y="28805"/>
                  <a:pt x="321689" y="64338"/>
                </a:cubicBezTo>
                <a:lnTo>
                  <a:pt x="321689" y="257351"/>
                </a:lnTo>
                <a:cubicBezTo>
                  <a:pt x="321689" y="292884"/>
                  <a:pt x="292884" y="321689"/>
                  <a:pt x="257351" y="321689"/>
                </a:cubicBezTo>
                <a:lnTo>
                  <a:pt x="64338" y="321689"/>
                </a:lnTo>
                <a:cubicBezTo>
                  <a:pt x="28805" y="321689"/>
                  <a:pt x="0" y="292884"/>
                  <a:pt x="0" y="257351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2111" y="402111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140739" y="80422"/>
                </a:moveTo>
                <a:cubicBezTo>
                  <a:pt x="140739" y="47133"/>
                  <a:pt x="113712" y="20106"/>
                  <a:pt x="80422" y="20106"/>
                </a:cubicBezTo>
                <a:cubicBezTo>
                  <a:pt x="47133" y="20106"/>
                  <a:pt x="20106" y="47133"/>
                  <a:pt x="20106" y="80422"/>
                </a:cubicBezTo>
                <a:cubicBezTo>
                  <a:pt x="20106" y="113712"/>
                  <a:pt x="47133" y="140739"/>
                  <a:pt x="80422" y="140739"/>
                </a:cubicBezTo>
                <a:cubicBezTo>
                  <a:pt x="113712" y="140739"/>
                  <a:pt x="140739" y="113712"/>
                  <a:pt x="140739" y="80422"/>
                </a:cubicBezTo>
                <a:close/>
                <a:moveTo>
                  <a:pt x="0" y="80422"/>
                </a:moveTo>
                <a:cubicBezTo>
                  <a:pt x="0" y="36036"/>
                  <a:pt x="36036" y="0"/>
                  <a:pt x="80422" y="0"/>
                </a:cubicBezTo>
                <a:cubicBezTo>
                  <a:pt x="124808" y="0"/>
                  <a:pt x="160844" y="36036"/>
                  <a:pt x="160844" y="80422"/>
                </a:cubicBezTo>
                <a:cubicBezTo>
                  <a:pt x="160844" y="124808"/>
                  <a:pt x="124808" y="160844"/>
                  <a:pt x="80422" y="160844"/>
                </a:cubicBezTo>
                <a:cubicBezTo>
                  <a:pt x="36036" y="160844"/>
                  <a:pt x="0" y="124808"/>
                  <a:pt x="0" y="80422"/>
                </a:cubicBezTo>
                <a:close/>
                <a:moveTo>
                  <a:pt x="80422" y="105554"/>
                </a:moveTo>
                <a:cubicBezTo>
                  <a:pt x="94293" y="105554"/>
                  <a:pt x="105554" y="94293"/>
                  <a:pt x="105554" y="80422"/>
                </a:cubicBezTo>
                <a:cubicBezTo>
                  <a:pt x="105554" y="66551"/>
                  <a:pt x="94293" y="55290"/>
                  <a:pt x="80422" y="55290"/>
                </a:cubicBezTo>
                <a:cubicBezTo>
                  <a:pt x="66551" y="55290"/>
                  <a:pt x="55290" y="66551"/>
                  <a:pt x="55290" y="80422"/>
                </a:cubicBezTo>
                <a:cubicBezTo>
                  <a:pt x="55290" y="94293"/>
                  <a:pt x="66551" y="105554"/>
                  <a:pt x="80422" y="105554"/>
                </a:cubicBezTo>
                <a:close/>
                <a:moveTo>
                  <a:pt x="80422" y="35185"/>
                </a:moveTo>
                <a:cubicBezTo>
                  <a:pt x="105389" y="35185"/>
                  <a:pt x="125660" y="55455"/>
                  <a:pt x="125660" y="80422"/>
                </a:cubicBezTo>
                <a:cubicBezTo>
                  <a:pt x="125660" y="105389"/>
                  <a:pt x="105389" y="125660"/>
                  <a:pt x="80422" y="125660"/>
                </a:cubicBezTo>
                <a:cubicBezTo>
                  <a:pt x="55455" y="125660"/>
                  <a:pt x="35185" y="105389"/>
                  <a:pt x="35185" y="80422"/>
                </a:cubicBezTo>
                <a:cubicBezTo>
                  <a:pt x="35185" y="55455"/>
                  <a:pt x="55455" y="35185"/>
                  <a:pt x="80422" y="35185"/>
                </a:cubicBezTo>
                <a:close/>
                <a:moveTo>
                  <a:pt x="70369" y="80422"/>
                </a:moveTo>
                <a:cubicBezTo>
                  <a:pt x="70369" y="74874"/>
                  <a:pt x="74874" y="70369"/>
                  <a:pt x="80422" y="70369"/>
                </a:cubicBezTo>
                <a:cubicBezTo>
                  <a:pt x="85970" y="70369"/>
                  <a:pt x="90475" y="74874"/>
                  <a:pt x="90475" y="80422"/>
                </a:cubicBezTo>
                <a:cubicBezTo>
                  <a:pt x="90475" y="85970"/>
                  <a:pt x="85970" y="90475"/>
                  <a:pt x="80422" y="90475"/>
                </a:cubicBezTo>
                <a:cubicBezTo>
                  <a:pt x="74874" y="90475"/>
                  <a:pt x="70369" y="85970"/>
                  <a:pt x="70369" y="8042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39884" y="386026"/>
            <a:ext cx="1230459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spc="51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1689" y="739884"/>
            <a:ext cx="11741636" cy="38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773" y="1318923"/>
            <a:ext cx="5661720" cy="5219398"/>
          </a:xfrm>
          <a:custGeom>
            <a:avLst/>
            <a:gdLst/>
            <a:ahLst/>
            <a:cxnLst/>
            <a:rect l="l" t="t" r="r" b="b"/>
            <a:pathLst>
              <a:path w="5661720" h="5219398">
                <a:moveTo>
                  <a:pt x="32169" y="0"/>
                </a:moveTo>
                <a:lnTo>
                  <a:pt x="5565214" y="0"/>
                </a:lnTo>
                <a:cubicBezTo>
                  <a:pt x="5618513" y="0"/>
                  <a:pt x="5661720" y="43208"/>
                  <a:pt x="5661720" y="96507"/>
                </a:cubicBezTo>
                <a:lnTo>
                  <a:pt x="5661720" y="5122892"/>
                </a:lnTo>
                <a:cubicBezTo>
                  <a:pt x="5661720" y="5176191"/>
                  <a:pt x="5618513" y="5219398"/>
                  <a:pt x="5565214" y="5219398"/>
                </a:cubicBezTo>
                <a:lnTo>
                  <a:pt x="32169" y="5219398"/>
                </a:lnTo>
                <a:cubicBezTo>
                  <a:pt x="14402" y="5219398"/>
                  <a:pt x="0" y="5204996"/>
                  <a:pt x="0" y="5187230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7773" y="1318923"/>
            <a:ext cx="32169" cy="5219398"/>
          </a:xfrm>
          <a:custGeom>
            <a:avLst/>
            <a:gdLst/>
            <a:ahLst/>
            <a:cxnLst/>
            <a:rect l="l" t="t" r="r" b="b"/>
            <a:pathLst>
              <a:path w="32169" h="5219398">
                <a:moveTo>
                  <a:pt x="32169" y="0"/>
                </a:moveTo>
                <a:lnTo>
                  <a:pt x="32169" y="0"/>
                </a:lnTo>
                <a:lnTo>
                  <a:pt x="32169" y="5219398"/>
                </a:lnTo>
                <a:lnTo>
                  <a:pt x="32169" y="5219398"/>
                </a:lnTo>
                <a:cubicBezTo>
                  <a:pt x="14402" y="5219398"/>
                  <a:pt x="0" y="5204996"/>
                  <a:pt x="0" y="5187230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546871" y="1511937"/>
            <a:ext cx="5356116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Need to Solve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871" y="1930132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193013" y="0"/>
                </a:moveTo>
                <a:lnTo>
                  <a:pt x="193013" y="0"/>
                </a:lnTo>
                <a:cubicBezTo>
                  <a:pt x="299611" y="0"/>
                  <a:pt x="386026" y="86415"/>
                  <a:pt x="386026" y="193013"/>
                </a:cubicBezTo>
                <a:lnTo>
                  <a:pt x="386026" y="193013"/>
                </a:lnTo>
                <a:cubicBezTo>
                  <a:pt x="386026" y="299611"/>
                  <a:pt x="299611" y="386026"/>
                  <a:pt x="193013" y="386026"/>
                </a:cubicBezTo>
                <a:lnTo>
                  <a:pt x="193013" y="386026"/>
                </a:lnTo>
                <a:cubicBezTo>
                  <a:pt x="86415" y="386026"/>
                  <a:pt x="0" y="299611"/>
                  <a:pt x="0" y="193013"/>
                </a:cubicBezTo>
                <a:lnTo>
                  <a:pt x="0" y="193013"/>
                </a:lnTo>
                <a:cubicBezTo>
                  <a:pt x="0" y="86415"/>
                  <a:pt x="86415" y="0"/>
                  <a:pt x="1930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9356" y="2042723"/>
            <a:ext cx="201055" cy="160844"/>
          </a:xfrm>
          <a:custGeom>
            <a:avLst/>
            <a:gdLst/>
            <a:ahLst/>
            <a:cxnLst/>
            <a:rect l="l" t="t" r="r" b="b"/>
            <a:pathLst>
              <a:path w="201055" h="160844">
                <a:moveTo>
                  <a:pt x="120633" y="10053"/>
                </a:moveTo>
                <a:lnTo>
                  <a:pt x="160844" y="10053"/>
                </a:lnTo>
                <a:cubicBezTo>
                  <a:pt x="166405" y="10053"/>
                  <a:pt x="170897" y="14545"/>
                  <a:pt x="170897" y="20106"/>
                </a:cubicBezTo>
                <a:cubicBezTo>
                  <a:pt x="170897" y="25666"/>
                  <a:pt x="166405" y="30158"/>
                  <a:pt x="160844" y="30158"/>
                </a:cubicBezTo>
                <a:lnTo>
                  <a:pt x="125157" y="30158"/>
                </a:lnTo>
                <a:cubicBezTo>
                  <a:pt x="123523" y="38263"/>
                  <a:pt x="117963" y="44955"/>
                  <a:pt x="110580" y="48159"/>
                </a:cubicBezTo>
                <a:lnTo>
                  <a:pt x="110580" y="140739"/>
                </a:lnTo>
                <a:lnTo>
                  <a:pt x="160844" y="140739"/>
                </a:lnTo>
                <a:cubicBezTo>
                  <a:pt x="166405" y="140739"/>
                  <a:pt x="170897" y="145231"/>
                  <a:pt x="170897" y="150792"/>
                </a:cubicBezTo>
                <a:cubicBezTo>
                  <a:pt x="170897" y="156352"/>
                  <a:pt x="166405" y="160844"/>
                  <a:pt x="160844" y="160844"/>
                </a:cubicBezTo>
                <a:lnTo>
                  <a:pt x="40211" y="160844"/>
                </a:lnTo>
                <a:cubicBezTo>
                  <a:pt x="34651" y="160844"/>
                  <a:pt x="30158" y="156352"/>
                  <a:pt x="30158" y="150792"/>
                </a:cubicBezTo>
                <a:cubicBezTo>
                  <a:pt x="30158" y="145231"/>
                  <a:pt x="34651" y="140739"/>
                  <a:pt x="40211" y="140739"/>
                </a:cubicBezTo>
                <a:lnTo>
                  <a:pt x="90475" y="140739"/>
                </a:lnTo>
                <a:lnTo>
                  <a:pt x="90475" y="48159"/>
                </a:lnTo>
                <a:cubicBezTo>
                  <a:pt x="83092" y="44923"/>
                  <a:pt x="77532" y="38232"/>
                  <a:pt x="75898" y="30158"/>
                </a:cubicBezTo>
                <a:lnTo>
                  <a:pt x="40211" y="30158"/>
                </a:lnTo>
                <a:cubicBezTo>
                  <a:pt x="34651" y="30158"/>
                  <a:pt x="30158" y="25666"/>
                  <a:pt x="30158" y="20106"/>
                </a:cubicBezTo>
                <a:cubicBezTo>
                  <a:pt x="30158" y="14545"/>
                  <a:pt x="34651" y="10053"/>
                  <a:pt x="40211" y="10053"/>
                </a:cubicBezTo>
                <a:lnTo>
                  <a:pt x="80422" y="10053"/>
                </a:lnTo>
                <a:cubicBezTo>
                  <a:pt x="85009" y="3958"/>
                  <a:pt x="92297" y="0"/>
                  <a:pt x="100528" y="0"/>
                </a:cubicBezTo>
                <a:cubicBezTo>
                  <a:pt x="108758" y="0"/>
                  <a:pt x="116047" y="3958"/>
                  <a:pt x="120633" y="10053"/>
                </a:cubicBezTo>
                <a:close/>
                <a:moveTo>
                  <a:pt x="138100" y="100528"/>
                </a:moveTo>
                <a:lnTo>
                  <a:pt x="183589" y="100528"/>
                </a:lnTo>
                <a:lnTo>
                  <a:pt x="160844" y="61510"/>
                </a:lnTo>
                <a:lnTo>
                  <a:pt x="138100" y="100528"/>
                </a:lnTo>
                <a:close/>
                <a:moveTo>
                  <a:pt x="160844" y="130686"/>
                </a:moveTo>
                <a:cubicBezTo>
                  <a:pt x="141084" y="130686"/>
                  <a:pt x="124654" y="120005"/>
                  <a:pt x="121262" y="105900"/>
                </a:cubicBezTo>
                <a:cubicBezTo>
                  <a:pt x="120445" y="102444"/>
                  <a:pt x="121576" y="98894"/>
                  <a:pt x="123366" y="95815"/>
                </a:cubicBezTo>
                <a:lnTo>
                  <a:pt x="153273" y="44546"/>
                </a:lnTo>
                <a:cubicBezTo>
                  <a:pt x="154844" y="41845"/>
                  <a:pt x="157734" y="40211"/>
                  <a:pt x="160844" y="40211"/>
                </a:cubicBezTo>
                <a:cubicBezTo>
                  <a:pt x="163954" y="40211"/>
                  <a:pt x="166845" y="41876"/>
                  <a:pt x="168415" y="44546"/>
                </a:cubicBezTo>
                <a:lnTo>
                  <a:pt x="198322" y="95815"/>
                </a:lnTo>
                <a:cubicBezTo>
                  <a:pt x="200113" y="98894"/>
                  <a:pt x="201244" y="102444"/>
                  <a:pt x="200427" y="105900"/>
                </a:cubicBezTo>
                <a:cubicBezTo>
                  <a:pt x="197034" y="119974"/>
                  <a:pt x="180604" y="130686"/>
                  <a:pt x="160844" y="130686"/>
                </a:cubicBezTo>
                <a:close/>
                <a:moveTo>
                  <a:pt x="39834" y="61510"/>
                </a:moveTo>
                <a:lnTo>
                  <a:pt x="17090" y="100528"/>
                </a:lnTo>
                <a:lnTo>
                  <a:pt x="62610" y="100528"/>
                </a:lnTo>
                <a:lnTo>
                  <a:pt x="39834" y="61510"/>
                </a:lnTo>
                <a:close/>
                <a:moveTo>
                  <a:pt x="283" y="105900"/>
                </a:moveTo>
                <a:cubicBezTo>
                  <a:pt x="-534" y="102444"/>
                  <a:pt x="597" y="98894"/>
                  <a:pt x="2388" y="95815"/>
                </a:cubicBezTo>
                <a:lnTo>
                  <a:pt x="32295" y="44546"/>
                </a:lnTo>
                <a:cubicBezTo>
                  <a:pt x="33865" y="41845"/>
                  <a:pt x="36755" y="40211"/>
                  <a:pt x="39866" y="40211"/>
                </a:cubicBezTo>
                <a:cubicBezTo>
                  <a:pt x="42976" y="40211"/>
                  <a:pt x="45866" y="41876"/>
                  <a:pt x="47437" y="44546"/>
                </a:cubicBezTo>
                <a:lnTo>
                  <a:pt x="77344" y="95815"/>
                </a:lnTo>
                <a:cubicBezTo>
                  <a:pt x="79134" y="98894"/>
                  <a:pt x="80265" y="102444"/>
                  <a:pt x="79448" y="105900"/>
                </a:cubicBezTo>
                <a:cubicBezTo>
                  <a:pt x="76055" y="119974"/>
                  <a:pt x="59625" y="130686"/>
                  <a:pt x="39866" y="130686"/>
                </a:cubicBezTo>
                <a:cubicBezTo>
                  <a:pt x="20106" y="130686"/>
                  <a:pt x="3676" y="120005"/>
                  <a:pt x="283" y="1059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1061573" y="1930132"/>
            <a:ext cx="481728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1573" y="2187483"/>
            <a:ext cx="480924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Big Mountain's pricing position against comparable resorts with similar amenities and market positioning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871" y="2734354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193013" y="0"/>
                </a:moveTo>
                <a:lnTo>
                  <a:pt x="193013" y="0"/>
                </a:lnTo>
                <a:cubicBezTo>
                  <a:pt x="299611" y="0"/>
                  <a:pt x="386026" y="86415"/>
                  <a:pt x="386026" y="193013"/>
                </a:cubicBezTo>
                <a:lnTo>
                  <a:pt x="386026" y="193013"/>
                </a:lnTo>
                <a:cubicBezTo>
                  <a:pt x="386026" y="299611"/>
                  <a:pt x="299611" y="386026"/>
                  <a:pt x="193013" y="386026"/>
                </a:cubicBezTo>
                <a:lnTo>
                  <a:pt x="193013" y="386026"/>
                </a:lnTo>
                <a:cubicBezTo>
                  <a:pt x="86415" y="386026"/>
                  <a:pt x="0" y="299611"/>
                  <a:pt x="0" y="193013"/>
                </a:cubicBezTo>
                <a:lnTo>
                  <a:pt x="0" y="193013"/>
                </a:lnTo>
                <a:cubicBezTo>
                  <a:pt x="0" y="86415"/>
                  <a:pt x="86415" y="0"/>
                  <a:pt x="1930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9567" y="2846945"/>
            <a:ext cx="120633" cy="160844"/>
          </a:xfrm>
          <a:custGeom>
            <a:avLst/>
            <a:gdLst/>
            <a:ahLst/>
            <a:cxnLst/>
            <a:rect l="l" t="t" r="r" b="b"/>
            <a:pathLst>
              <a:path w="120633" h="160844">
                <a:moveTo>
                  <a:pt x="20106" y="0"/>
                </a:moveTo>
                <a:cubicBezTo>
                  <a:pt x="9016" y="0"/>
                  <a:pt x="0" y="9016"/>
                  <a:pt x="0" y="20106"/>
                </a:cubicBezTo>
                <a:lnTo>
                  <a:pt x="0" y="140739"/>
                </a:lnTo>
                <a:cubicBezTo>
                  <a:pt x="0" y="151828"/>
                  <a:pt x="9016" y="160844"/>
                  <a:pt x="20106" y="160844"/>
                </a:cubicBezTo>
                <a:lnTo>
                  <a:pt x="100528" y="160844"/>
                </a:lnTo>
                <a:cubicBezTo>
                  <a:pt x="111617" y="160844"/>
                  <a:pt x="120633" y="151828"/>
                  <a:pt x="120633" y="140739"/>
                </a:cubicBezTo>
                <a:lnTo>
                  <a:pt x="120633" y="20106"/>
                </a:lnTo>
                <a:cubicBezTo>
                  <a:pt x="120633" y="9016"/>
                  <a:pt x="111617" y="0"/>
                  <a:pt x="100528" y="0"/>
                </a:cubicBezTo>
                <a:lnTo>
                  <a:pt x="20106" y="0"/>
                </a:lnTo>
                <a:close/>
                <a:moveTo>
                  <a:pt x="30158" y="20106"/>
                </a:moveTo>
                <a:lnTo>
                  <a:pt x="90475" y="20106"/>
                </a:lnTo>
                <a:cubicBezTo>
                  <a:pt x="96035" y="20106"/>
                  <a:pt x="100528" y="24598"/>
                  <a:pt x="100528" y="30158"/>
                </a:cubicBezTo>
                <a:lnTo>
                  <a:pt x="100528" y="40211"/>
                </a:lnTo>
                <a:cubicBezTo>
                  <a:pt x="100528" y="45772"/>
                  <a:pt x="96035" y="50264"/>
                  <a:pt x="90475" y="50264"/>
                </a:cubicBezTo>
                <a:lnTo>
                  <a:pt x="30158" y="50264"/>
                </a:lnTo>
                <a:cubicBezTo>
                  <a:pt x="24598" y="50264"/>
                  <a:pt x="20106" y="45772"/>
                  <a:pt x="20106" y="40211"/>
                </a:cubicBezTo>
                <a:lnTo>
                  <a:pt x="20106" y="30158"/>
                </a:lnTo>
                <a:cubicBezTo>
                  <a:pt x="20106" y="24598"/>
                  <a:pt x="24598" y="20106"/>
                  <a:pt x="30158" y="20106"/>
                </a:cubicBezTo>
                <a:close/>
                <a:moveTo>
                  <a:pt x="35185" y="72883"/>
                </a:moveTo>
                <a:cubicBezTo>
                  <a:pt x="35185" y="77044"/>
                  <a:pt x="31806" y="80422"/>
                  <a:pt x="27645" y="80422"/>
                </a:cubicBezTo>
                <a:cubicBezTo>
                  <a:pt x="23484" y="80422"/>
                  <a:pt x="20106" y="77044"/>
                  <a:pt x="20106" y="72883"/>
                </a:cubicBezTo>
                <a:cubicBezTo>
                  <a:pt x="20106" y="68721"/>
                  <a:pt x="23484" y="65343"/>
                  <a:pt x="27645" y="65343"/>
                </a:cubicBezTo>
                <a:cubicBezTo>
                  <a:pt x="31806" y="65343"/>
                  <a:pt x="35185" y="68721"/>
                  <a:pt x="35185" y="72883"/>
                </a:cubicBezTo>
                <a:close/>
                <a:moveTo>
                  <a:pt x="60317" y="80422"/>
                </a:moveTo>
                <a:cubicBezTo>
                  <a:pt x="56155" y="80422"/>
                  <a:pt x="52777" y="77044"/>
                  <a:pt x="52777" y="72883"/>
                </a:cubicBezTo>
                <a:cubicBezTo>
                  <a:pt x="52777" y="68721"/>
                  <a:pt x="56155" y="65343"/>
                  <a:pt x="60317" y="65343"/>
                </a:cubicBezTo>
                <a:cubicBezTo>
                  <a:pt x="64478" y="65343"/>
                  <a:pt x="67856" y="68721"/>
                  <a:pt x="67856" y="72883"/>
                </a:cubicBezTo>
                <a:cubicBezTo>
                  <a:pt x="67856" y="77044"/>
                  <a:pt x="64478" y="80422"/>
                  <a:pt x="60317" y="80422"/>
                </a:cubicBezTo>
                <a:close/>
                <a:moveTo>
                  <a:pt x="100528" y="72883"/>
                </a:moveTo>
                <a:cubicBezTo>
                  <a:pt x="100528" y="77044"/>
                  <a:pt x="97149" y="80422"/>
                  <a:pt x="92988" y="80422"/>
                </a:cubicBezTo>
                <a:cubicBezTo>
                  <a:pt x="88827" y="80422"/>
                  <a:pt x="85449" y="77044"/>
                  <a:pt x="85449" y="72883"/>
                </a:cubicBezTo>
                <a:cubicBezTo>
                  <a:pt x="85449" y="68721"/>
                  <a:pt x="88827" y="65343"/>
                  <a:pt x="92988" y="65343"/>
                </a:cubicBezTo>
                <a:cubicBezTo>
                  <a:pt x="97149" y="65343"/>
                  <a:pt x="100528" y="68721"/>
                  <a:pt x="100528" y="72883"/>
                </a:cubicBezTo>
                <a:close/>
                <a:moveTo>
                  <a:pt x="27645" y="110580"/>
                </a:moveTo>
                <a:cubicBezTo>
                  <a:pt x="23484" y="110580"/>
                  <a:pt x="20106" y="107202"/>
                  <a:pt x="20106" y="103041"/>
                </a:cubicBezTo>
                <a:cubicBezTo>
                  <a:pt x="20106" y="98880"/>
                  <a:pt x="23484" y="95501"/>
                  <a:pt x="27645" y="95501"/>
                </a:cubicBezTo>
                <a:cubicBezTo>
                  <a:pt x="31806" y="95501"/>
                  <a:pt x="35185" y="98880"/>
                  <a:pt x="35185" y="103041"/>
                </a:cubicBezTo>
                <a:cubicBezTo>
                  <a:pt x="35185" y="107202"/>
                  <a:pt x="31806" y="110580"/>
                  <a:pt x="27645" y="110580"/>
                </a:cubicBezTo>
                <a:close/>
                <a:moveTo>
                  <a:pt x="67856" y="103041"/>
                </a:moveTo>
                <a:cubicBezTo>
                  <a:pt x="67856" y="107202"/>
                  <a:pt x="64478" y="110580"/>
                  <a:pt x="60317" y="110580"/>
                </a:cubicBezTo>
                <a:cubicBezTo>
                  <a:pt x="56155" y="110580"/>
                  <a:pt x="52777" y="107202"/>
                  <a:pt x="52777" y="103041"/>
                </a:cubicBezTo>
                <a:cubicBezTo>
                  <a:pt x="52777" y="98880"/>
                  <a:pt x="56155" y="95501"/>
                  <a:pt x="60317" y="95501"/>
                </a:cubicBezTo>
                <a:cubicBezTo>
                  <a:pt x="64478" y="95501"/>
                  <a:pt x="67856" y="98880"/>
                  <a:pt x="67856" y="103041"/>
                </a:cubicBezTo>
                <a:close/>
                <a:moveTo>
                  <a:pt x="92988" y="110580"/>
                </a:moveTo>
                <a:cubicBezTo>
                  <a:pt x="88827" y="110580"/>
                  <a:pt x="85449" y="107202"/>
                  <a:pt x="85449" y="103041"/>
                </a:cubicBezTo>
                <a:cubicBezTo>
                  <a:pt x="85449" y="98880"/>
                  <a:pt x="88827" y="95501"/>
                  <a:pt x="92988" y="95501"/>
                </a:cubicBezTo>
                <a:cubicBezTo>
                  <a:pt x="97149" y="95501"/>
                  <a:pt x="100528" y="98880"/>
                  <a:pt x="100528" y="103041"/>
                </a:cubicBezTo>
                <a:cubicBezTo>
                  <a:pt x="100528" y="107202"/>
                  <a:pt x="97149" y="110580"/>
                  <a:pt x="92988" y="110580"/>
                </a:cubicBezTo>
                <a:close/>
                <a:moveTo>
                  <a:pt x="20106" y="133199"/>
                </a:moveTo>
                <a:cubicBezTo>
                  <a:pt x="20106" y="129021"/>
                  <a:pt x="23467" y="125660"/>
                  <a:pt x="27645" y="125660"/>
                </a:cubicBezTo>
                <a:lnTo>
                  <a:pt x="62830" y="125660"/>
                </a:lnTo>
                <a:cubicBezTo>
                  <a:pt x="67008" y="125660"/>
                  <a:pt x="70369" y="129021"/>
                  <a:pt x="70369" y="133199"/>
                </a:cubicBezTo>
                <a:cubicBezTo>
                  <a:pt x="70369" y="137377"/>
                  <a:pt x="67008" y="140739"/>
                  <a:pt x="62830" y="140739"/>
                </a:cubicBezTo>
                <a:lnTo>
                  <a:pt x="27645" y="140739"/>
                </a:lnTo>
                <a:cubicBezTo>
                  <a:pt x="23467" y="140739"/>
                  <a:pt x="20106" y="137377"/>
                  <a:pt x="20106" y="133199"/>
                </a:cubicBezTo>
                <a:close/>
                <a:moveTo>
                  <a:pt x="92988" y="125660"/>
                </a:moveTo>
                <a:cubicBezTo>
                  <a:pt x="97166" y="125660"/>
                  <a:pt x="100528" y="129021"/>
                  <a:pt x="100528" y="133199"/>
                </a:cubicBezTo>
                <a:cubicBezTo>
                  <a:pt x="100528" y="137377"/>
                  <a:pt x="97166" y="140739"/>
                  <a:pt x="92988" y="140739"/>
                </a:cubicBezTo>
                <a:cubicBezTo>
                  <a:pt x="88810" y="140739"/>
                  <a:pt x="85449" y="137377"/>
                  <a:pt x="85449" y="133199"/>
                </a:cubicBezTo>
                <a:cubicBezTo>
                  <a:pt x="85449" y="129021"/>
                  <a:pt x="88810" y="125660"/>
                  <a:pt x="92988" y="12566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1573" y="2734354"/>
            <a:ext cx="481728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Value Quantification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1573" y="2991704"/>
            <a:ext cx="480924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how resort features (vertical drop, snowmaking, terrain) drive market prices and customer willingness to pay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6871" y="3538575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193013" y="0"/>
                </a:moveTo>
                <a:lnTo>
                  <a:pt x="193013" y="0"/>
                </a:lnTo>
                <a:cubicBezTo>
                  <a:pt x="299611" y="0"/>
                  <a:pt x="386026" y="86415"/>
                  <a:pt x="386026" y="193013"/>
                </a:cubicBezTo>
                <a:lnTo>
                  <a:pt x="386026" y="193013"/>
                </a:lnTo>
                <a:cubicBezTo>
                  <a:pt x="386026" y="299611"/>
                  <a:pt x="299611" y="386026"/>
                  <a:pt x="193013" y="386026"/>
                </a:cubicBezTo>
                <a:lnTo>
                  <a:pt x="193013" y="386026"/>
                </a:lnTo>
                <a:cubicBezTo>
                  <a:pt x="86415" y="386026"/>
                  <a:pt x="0" y="299611"/>
                  <a:pt x="0" y="193013"/>
                </a:cubicBezTo>
                <a:lnTo>
                  <a:pt x="0" y="193013"/>
                </a:lnTo>
                <a:cubicBezTo>
                  <a:pt x="0" y="86415"/>
                  <a:pt x="86415" y="0"/>
                  <a:pt x="1930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9462" y="3651166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10053" y="10053"/>
                </a:moveTo>
                <a:cubicBezTo>
                  <a:pt x="15613" y="10053"/>
                  <a:pt x="20106" y="14545"/>
                  <a:pt x="20106" y="20106"/>
                </a:cubicBezTo>
                <a:lnTo>
                  <a:pt x="20106" y="125660"/>
                </a:lnTo>
                <a:cubicBezTo>
                  <a:pt x="20106" y="128424"/>
                  <a:pt x="22367" y="130686"/>
                  <a:pt x="25132" y="130686"/>
                </a:cubicBezTo>
                <a:lnTo>
                  <a:pt x="150792" y="130686"/>
                </a:lnTo>
                <a:cubicBezTo>
                  <a:pt x="156352" y="130686"/>
                  <a:pt x="160844" y="135178"/>
                  <a:pt x="160844" y="140739"/>
                </a:cubicBezTo>
                <a:cubicBezTo>
                  <a:pt x="160844" y="146299"/>
                  <a:pt x="156352" y="150792"/>
                  <a:pt x="150792" y="150792"/>
                </a:cubicBezTo>
                <a:lnTo>
                  <a:pt x="25132" y="150792"/>
                </a:lnTo>
                <a:cubicBezTo>
                  <a:pt x="11247" y="150792"/>
                  <a:pt x="0" y="139545"/>
                  <a:pt x="0" y="125660"/>
                </a:cubicBezTo>
                <a:lnTo>
                  <a:pt x="0" y="20106"/>
                </a:lnTo>
                <a:cubicBezTo>
                  <a:pt x="0" y="14545"/>
                  <a:pt x="4492" y="10053"/>
                  <a:pt x="10053" y="10053"/>
                </a:cubicBezTo>
                <a:close/>
                <a:moveTo>
                  <a:pt x="75396" y="30158"/>
                </a:moveTo>
                <a:cubicBezTo>
                  <a:pt x="77501" y="30158"/>
                  <a:pt x="79511" y="31038"/>
                  <a:pt x="80956" y="32609"/>
                </a:cubicBezTo>
                <a:lnTo>
                  <a:pt x="103292" y="56955"/>
                </a:lnTo>
                <a:lnTo>
                  <a:pt x="117806" y="42410"/>
                </a:lnTo>
                <a:cubicBezTo>
                  <a:pt x="120759" y="39457"/>
                  <a:pt x="125534" y="39457"/>
                  <a:pt x="128456" y="42410"/>
                </a:cubicBezTo>
                <a:lnTo>
                  <a:pt x="148561" y="62516"/>
                </a:lnTo>
                <a:cubicBezTo>
                  <a:pt x="149975" y="63929"/>
                  <a:pt x="150760" y="65846"/>
                  <a:pt x="150760" y="67856"/>
                </a:cubicBezTo>
                <a:lnTo>
                  <a:pt x="150760" y="103041"/>
                </a:lnTo>
                <a:cubicBezTo>
                  <a:pt x="150760" y="107219"/>
                  <a:pt x="147399" y="110580"/>
                  <a:pt x="143221" y="110580"/>
                </a:cubicBezTo>
                <a:lnTo>
                  <a:pt x="47719" y="110580"/>
                </a:lnTo>
                <a:cubicBezTo>
                  <a:pt x="43541" y="110580"/>
                  <a:pt x="40180" y="107219"/>
                  <a:pt x="40180" y="103041"/>
                </a:cubicBezTo>
                <a:lnTo>
                  <a:pt x="40180" y="67856"/>
                </a:lnTo>
                <a:cubicBezTo>
                  <a:pt x="40180" y="65971"/>
                  <a:pt x="40902" y="64149"/>
                  <a:pt x="42159" y="62767"/>
                </a:cubicBezTo>
                <a:lnTo>
                  <a:pt x="69804" y="32609"/>
                </a:lnTo>
                <a:cubicBezTo>
                  <a:pt x="71218" y="31038"/>
                  <a:pt x="73260" y="30158"/>
                  <a:pt x="75364" y="3015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1061573" y="3538575"/>
            <a:ext cx="481728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Price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1573" y="3795926"/>
            <a:ext cx="480924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statistical models to identify optimal price points based on competitive landscape and feature set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871" y="4342797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193013" y="0"/>
                </a:moveTo>
                <a:lnTo>
                  <a:pt x="193013" y="0"/>
                </a:lnTo>
                <a:cubicBezTo>
                  <a:pt x="299611" y="0"/>
                  <a:pt x="386026" y="86415"/>
                  <a:pt x="386026" y="193013"/>
                </a:cubicBezTo>
                <a:lnTo>
                  <a:pt x="386026" y="193013"/>
                </a:lnTo>
                <a:cubicBezTo>
                  <a:pt x="386026" y="299611"/>
                  <a:pt x="299611" y="386026"/>
                  <a:pt x="193013" y="386026"/>
                </a:cubicBezTo>
                <a:lnTo>
                  <a:pt x="193013" y="386026"/>
                </a:lnTo>
                <a:cubicBezTo>
                  <a:pt x="86415" y="386026"/>
                  <a:pt x="0" y="299611"/>
                  <a:pt x="0" y="193013"/>
                </a:cubicBezTo>
                <a:lnTo>
                  <a:pt x="0" y="193013"/>
                </a:lnTo>
                <a:cubicBezTo>
                  <a:pt x="0" y="86415"/>
                  <a:pt x="86415" y="0"/>
                  <a:pt x="1930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9567" y="4455388"/>
            <a:ext cx="120633" cy="160844"/>
          </a:xfrm>
          <a:custGeom>
            <a:avLst/>
            <a:gdLst/>
            <a:ahLst/>
            <a:cxnLst/>
            <a:rect l="l" t="t" r="r" b="b"/>
            <a:pathLst>
              <a:path w="120633" h="160844">
                <a:moveTo>
                  <a:pt x="97826" y="10053"/>
                </a:moveTo>
                <a:lnTo>
                  <a:pt x="100528" y="10053"/>
                </a:lnTo>
                <a:cubicBezTo>
                  <a:pt x="111617" y="10053"/>
                  <a:pt x="120633" y="19069"/>
                  <a:pt x="120633" y="30158"/>
                </a:cubicBezTo>
                <a:lnTo>
                  <a:pt x="120633" y="140739"/>
                </a:lnTo>
                <a:cubicBezTo>
                  <a:pt x="120633" y="151828"/>
                  <a:pt x="111617" y="160844"/>
                  <a:pt x="100528" y="160844"/>
                </a:cubicBezTo>
                <a:lnTo>
                  <a:pt x="20106" y="160844"/>
                </a:lnTo>
                <a:cubicBezTo>
                  <a:pt x="9016" y="160844"/>
                  <a:pt x="0" y="151828"/>
                  <a:pt x="0" y="140739"/>
                </a:cubicBezTo>
                <a:lnTo>
                  <a:pt x="0" y="30158"/>
                </a:lnTo>
                <a:cubicBezTo>
                  <a:pt x="0" y="19069"/>
                  <a:pt x="9016" y="10053"/>
                  <a:pt x="20106" y="10053"/>
                </a:cubicBezTo>
                <a:lnTo>
                  <a:pt x="22807" y="10053"/>
                </a:lnTo>
                <a:cubicBezTo>
                  <a:pt x="26263" y="4053"/>
                  <a:pt x="32766" y="0"/>
                  <a:pt x="40211" y="0"/>
                </a:cubicBezTo>
                <a:lnTo>
                  <a:pt x="80422" y="0"/>
                </a:lnTo>
                <a:cubicBezTo>
                  <a:pt x="87867" y="0"/>
                  <a:pt x="94370" y="4053"/>
                  <a:pt x="97826" y="10053"/>
                </a:cubicBezTo>
                <a:close/>
                <a:moveTo>
                  <a:pt x="77909" y="35185"/>
                </a:moveTo>
                <a:cubicBezTo>
                  <a:pt x="82087" y="35185"/>
                  <a:pt x="85449" y="31823"/>
                  <a:pt x="85449" y="27645"/>
                </a:cubicBezTo>
                <a:cubicBezTo>
                  <a:pt x="85449" y="23467"/>
                  <a:pt x="82087" y="20106"/>
                  <a:pt x="77909" y="20106"/>
                </a:cubicBezTo>
                <a:lnTo>
                  <a:pt x="42724" y="20106"/>
                </a:lnTo>
                <a:cubicBezTo>
                  <a:pt x="38546" y="20106"/>
                  <a:pt x="35185" y="23467"/>
                  <a:pt x="35185" y="27645"/>
                </a:cubicBezTo>
                <a:cubicBezTo>
                  <a:pt x="35185" y="31823"/>
                  <a:pt x="38546" y="35185"/>
                  <a:pt x="42724" y="35185"/>
                </a:cubicBezTo>
                <a:lnTo>
                  <a:pt x="77909" y="35185"/>
                </a:lnTo>
                <a:close/>
                <a:moveTo>
                  <a:pt x="86831" y="81899"/>
                </a:moveTo>
                <a:cubicBezTo>
                  <a:pt x="89030" y="78380"/>
                  <a:pt x="87962" y="73731"/>
                  <a:pt x="84443" y="71500"/>
                </a:cubicBezTo>
                <a:cubicBezTo>
                  <a:pt x="80925" y="69270"/>
                  <a:pt x="76275" y="70369"/>
                  <a:pt x="74045" y="73888"/>
                </a:cubicBezTo>
                <a:lnTo>
                  <a:pt x="54756" y="104769"/>
                </a:lnTo>
                <a:lnTo>
                  <a:pt x="46274" y="93459"/>
                </a:lnTo>
                <a:cubicBezTo>
                  <a:pt x="43761" y="90129"/>
                  <a:pt x="39049" y="89438"/>
                  <a:pt x="35719" y="91951"/>
                </a:cubicBezTo>
                <a:cubicBezTo>
                  <a:pt x="32389" y="94465"/>
                  <a:pt x="31698" y="99177"/>
                  <a:pt x="34211" y="102507"/>
                </a:cubicBezTo>
                <a:lnTo>
                  <a:pt x="49290" y="122612"/>
                </a:lnTo>
                <a:cubicBezTo>
                  <a:pt x="50766" y="124592"/>
                  <a:pt x="53154" y="125722"/>
                  <a:pt x="55636" y="125628"/>
                </a:cubicBezTo>
                <a:cubicBezTo>
                  <a:pt x="58118" y="125534"/>
                  <a:pt x="60379" y="124215"/>
                  <a:pt x="61699" y="122078"/>
                </a:cubicBezTo>
                <a:lnTo>
                  <a:pt x="86831" y="8186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1061573" y="4342797"/>
            <a:ext cx="481728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Recommendations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1573" y="4600148"/>
            <a:ext cx="480924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 data-backed pricing strategy with clear ROI projections and implementation roadmap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4266" y="1318923"/>
            <a:ext cx="5677805" cy="3329478"/>
          </a:xfrm>
          <a:custGeom>
            <a:avLst/>
            <a:gdLst/>
            <a:ahLst/>
            <a:cxnLst/>
            <a:rect l="l" t="t" r="r" b="b"/>
            <a:pathLst>
              <a:path w="5677805" h="3329478">
                <a:moveTo>
                  <a:pt x="96522" y="0"/>
                </a:moveTo>
                <a:lnTo>
                  <a:pt x="5581283" y="0"/>
                </a:lnTo>
                <a:cubicBezTo>
                  <a:pt x="5634591" y="0"/>
                  <a:pt x="5677805" y="43214"/>
                  <a:pt x="5677805" y="96522"/>
                </a:cubicBezTo>
                <a:lnTo>
                  <a:pt x="5677805" y="3232956"/>
                </a:lnTo>
                <a:cubicBezTo>
                  <a:pt x="5677805" y="3286263"/>
                  <a:pt x="5634591" y="3329478"/>
                  <a:pt x="5581283" y="3329478"/>
                </a:cubicBezTo>
                <a:lnTo>
                  <a:pt x="96522" y="3329478"/>
                </a:lnTo>
                <a:cubicBezTo>
                  <a:pt x="43214" y="3329478"/>
                  <a:pt x="0" y="3286263"/>
                  <a:pt x="0" y="3232956"/>
                </a:cubicBezTo>
                <a:lnTo>
                  <a:pt x="0" y="96522"/>
                </a:lnTo>
                <a:cubicBezTo>
                  <a:pt x="0" y="43214"/>
                  <a:pt x="43214" y="0"/>
                  <a:pt x="9652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87279" y="1511937"/>
            <a:ext cx="5388285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3363" y="1930132"/>
            <a:ext cx="5275694" cy="755968"/>
          </a:xfrm>
          <a:custGeom>
            <a:avLst/>
            <a:gdLst/>
            <a:ahLst/>
            <a:cxnLst/>
            <a:rect l="l" t="t" r="r" b="b"/>
            <a:pathLst>
              <a:path w="5275694" h="755968">
                <a:moveTo>
                  <a:pt x="32169" y="0"/>
                </a:moveTo>
                <a:lnTo>
                  <a:pt x="5211353" y="0"/>
                </a:lnTo>
                <a:cubicBezTo>
                  <a:pt x="5246888" y="0"/>
                  <a:pt x="5275694" y="28806"/>
                  <a:pt x="5275694" y="64340"/>
                </a:cubicBezTo>
                <a:lnTo>
                  <a:pt x="5275694" y="691628"/>
                </a:lnTo>
                <a:cubicBezTo>
                  <a:pt x="5275694" y="727162"/>
                  <a:pt x="5246888" y="755968"/>
                  <a:pt x="5211353" y="755968"/>
                </a:cubicBezTo>
                <a:lnTo>
                  <a:pt x="32169" y="755968"/>
                </a:lnTo>
                <a:cubicBezTo>
                  <a:pt x="14402" y="755968"/>
                  <a:pt x="0" y="741566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3363" y="1930132"/>
            <a:ext cx="32169" cy="755968"/>
          </a:xfrm>
          <a:custGeom>
            <a:avLst/>
            <a:gdLst/>
            <a:ahLst/>
            <a:cxnLst/>
            <a:rect l="l" t="t" r="r" b="b"/>
            <a:pathLst>
              <a:path w="32169" h="755968">
                <a:moveTo>
                  <a:pt x="32169" y="0"/>
                </a:moveTo>
                <a:lnTo>
                  <a:pt x="32169" y="0"/>
                </a:lnTo>
                <a:lnTo>
                  <a:pt x="32169" y="755968"/>
                </a:lnTo>
                <a:lnTo>
                  <a:pt x="32169" y="755968"/>
                </a:lnTo>
                <a:cubicBezTo>
                  <a:pt x="14414" y="755968"/>
                  <a:pt x="0" y="741554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Shape 27"/>
          <p:cNvSpPr/>
          <p:nvPr/>
        </p:nvSpPr>
        <p:spPr>
          <a:xfrm>
            <a:off x="6568229" y="2090976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80422" y="160844"/>
                </a:moveTo>
                <a:cubicBezTo>
                  <a:pt x="124808" y="160844"/>
                  <a:pt x="160844" y="124808"/>
                  <a:pt x="160844" y="80422"/>
                </a:cubicBezTo>
                <a:cubicBezTo>
                  <a:pt x="160844" y="36036"/>
                  <a:pt x="124808" y="0"/>
                  <a:pt x="80422" y="0"/>
                </a:cubicBezTo>
                <a:cubicBezTo>
                  <a:pt x="36036" y="0"/>
                  <a:pt x="0" y="36036"/>
                  <a:pt x="0" y="80422"/>
                </a:cubicBezTo>
                <a:cubicBezTo>
                  <a:pt x="0" y="124808"/>
                  <a:pt x="36036" y="160844"/>
                  <a:pt x="80422" y="160844"/>
                </a:cubicBezTo>
                <a:close/>
                <a:moveTo>
                  <a:pt x="106936" y="66820"/>
                </a:moveTo>
                <a:lnTo>
                  <a:pt x="81804" y="107031"/>
                </a:lnTo>
                <a:cubicBezTo>
                  <a:pt x="80485" y="109135"/>
                  <a:pt x="78223" y="110455"/>
                  <a:pt x="75741" y="110580"/>
                </a:cubicBezTo>
                <a:cubicBezTo>
                  <a:pt x="73260" y="110706"/>
                  <a:pt x="70872" y="109575"/>
                  <a:pt x="69396" y="107565"/>
                </a:cubicBezTo>
                <a:lnTo>
                  <a:pt x="54316" y="87459"/>
                </a:lnTo>
                <a:cubicBezTo>
                  <a:pt x="51803" y="84129"/>
                  <a:pt x="52494" y="79417"/>
                  <a:pt x="55824" y="76904"/>
                </a:cubicBezTo>
                <a:cubicBezTo>
                  <a:pt x="59154" y="74391"/>
                  <a:pt x="63867" y="75082"/>
                  <a:pt x="66380" y="78412"/>
                </a:cubicBezTo>
                <a:lnTo>
                  <a:pt x="74862" y="89721"/>
                </a:lnTo>
                <a:lnTo>
                  <a:pt x="94150" y="58840"/>
                </a:lnTo>
                <a:cubicBezTo>
                  <a:pt x="96350" y="55322"/>
                  <a:pt x="100999" y="54222"/>
                  <a:pt x="104549" y="56453"/>
                </a:cubicBezTo>
                <a:cubicBezTo>
                  <a:pt x="108099" y="58683"/>
                  <a:pt x="109167" y="63301"/>
                  <a:pt x="106936" y="6685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6845685" y="2058807"/>
            <a:ext cx="1302839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48123" y="2348327"/>
            <a:ext cx="5066596" cy="2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model explaining </a:t>
            </a:r>
            <a:pPr>
              <a:lnSpc>
                <a:spcPct val="140000"/>
              </a:lnSpc>
            </a:pPr>
            <a:r>
              <a:rPr lang="en-US" sz="101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&gt;70% of price variance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competitive set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3363" y="2814776"/>
            <a:ext cx="5275694" cy="755968"/>
          </a:xfrm>
          <a:custGeom>
            <a:avLst/>
            <a:gdLst/>
            <a:ahLst/>
            <a:cxnLst/>
            <a:rect l="l" t="t" r="r" b="b"/>
            <a:pathLst>
              <a:path w="5275694" h="755968">
                <a:moveTo>
                  <a:pt x="32169" y="0"/>
                </a:moveTo>
                <a:lnTo>
                  <a:pt x="5211353" y="0"/>
                </a:lnTo>
                <a:cubicBezTo>
                  <a:pt x="5246888" y="0"/>
                  <a:pt x="5275694" y="28806"/>
                  <a:pt x="5275694" y="64340"/>
                </a:cubicBezTo>
                <a:lnTo>
                  <a:pt x="5275694" y="691628"/>
                </a:lnTo>
                <a:cubicBezTo>
                  <a:pt x="5275694" y="727162"/>
                  <a:pt x="5246888" y="755968"/>
                  <a:pt x="5211353" y="755968"/>
                </a:cubicBezTo>
                <a:lnTo>
                  <a:pt x="32169" y="755968"/>
                </a:lnTo>
                <a:cubicBezTo>
                  <a:pt x="14402" y="755968"/>
                  <a:pt x="0" y="741566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03363" y="2814776"/>
            <a:ext cx="32169" cy="755968"/>
          </a:xfrm>
          <a:custGeom>
            <a:avLst/>
            <a:gdLst/>
            <a:ahLst/>
            <a:cxnLst/>
            <a:rect l="l" t="t" r="r" b="b"/>
            <a:pathLst>
              <a:path w="32169" h="755968">
                <a:moveTo>
                  <a:pt x="32169" y="0"/>
                </a:moveTo>
                <a:lnTo>
                  <a:pt x="32169" y="0"/>
                </a:lnTo>
                <a:lnTo>
                  <a:pt x="32169" y="755968"/>
                </a:lnTo>
                <a:lnTo>
                  <a:pt x="32169" y="755968"/>
                </a:lnTo>
                <a:cubicBezTo>
                  <a:pt x="14414" y="755968"/>
                  <a:pt x="0" y="741554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68229" y="2975620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80422" y="160844"/>
                </a:moveTo>
                <a:cubicBezTo>
                  <a:pt x="124808" y="160844"/>
                  <a:pt x="160844" y="124808"/>
                  <a:pt x="160844" y="80422"/>
                </a:cubicBezTo>
                <a:cubicBezTo>
                  <a:pt x="160844" y="36036"/>
                  <a:pt x="124808" y="0"/>
                  <a:pt x="80422" y="0"/>
                </a:cubicBezTo>
                <a:cubicBezTo>
                  <a:pt x="36036" y="0"/>
                  <a:pt x="0" y="36036"/>
                  <a:pt x="0" y="80422"/>
                </a:cubicBezTo>
                <a:cubicBezTo>
                  <a:pt x="0" y="124808"/>
                  <a:pt x="36036" y="160844"/>
                  <a:pt x="80422" y="160844"/>
                </a:cubicBezTo>
                <a:close/>
                <a:moveTo>
                  <a:pt x="106936" y="66820"/>
                </a:moveTo>
                <a:lnTo>
                  <a:pt x="81804" y="107031"/>
                </a:lnTo>
                <a:cubicBezTo>
                  <a:pt x="80485" y="109135"/>
                  <a:pt x="78223" y="110455"/>
                  <a:pt x="75741" y="110580"/>
                </a:cubicBezTo>
                <a:cubicBezTo>
                  <a:pt x="73260" y="110706"/>
                  <a:pt x="70872" y="109575"/>
                  <a:pt x="69396" y="107565"/>
                </a:cubicBezTo>
                <a:lnTo>
                  <a:pt x="54316" y="87459"/>
                </a:lnTo>
                <a:cubicBezTo>
                  <a:pt x="51803" y="84129"/>
                  <a:pt x="52494" y="79417"/>
                  <a:pt x="55824" y="76904"/>
                </a:cubicBezTo>
                <a:cubicBezTo>
                  <a:pt x="59154" y="74391"/>
                  <a:pt x="63867" y="75082"/>
                  <a:pt x="66380" y="78412"/>
                </a:cubicBezTo>
                <a:lnTo>
                  <a:pt x="74862" y="89721"/>
                </a:lnTo>
                <a:lnTo>
                  <a:pt x="94150" y="58840"/>
                </a:lnTo>
                <a:cubicBezTo>
                  <a:pt x="96350" y="55322"/>
                  <a:pt x="100999" y="54222"/>
                  <a:pt x="104549" y="56453"/>
                </a:cubicBezTo>
                <a:cubicBezTo>
                  <a:pt x="108099" y="58683"/>
                  <a:pt x="109167" y="63301"/>
                  <a:pt x="106936" y="6685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6845685" y="2943451"/>
            <a:ext cx="1254586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8123" y="3232971"/>
            <a:ext cx="5066596" cy="2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pricing recommendation with </a:t>
            </a:r>
            <a:pPr>
              <a:lnSpc>
                <a:spcPct val="140000"/>
              </a:lnSpc>
            </a:pPr>
            <a:r>
              <a:rPr lang="en-US" sz="101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revenue impact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risk assessment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3363" y="3699420"/>
            <a:ext cx="5275694" cy="755968"/>
          </a:xfrm>
          <a:custGeom>
            <a:avLst/>
            <a:gdLst/>
            <a:ahLst/>
            <a:cxnLst/>
            <a:rect l="l" t="t" r="r" b="b"/>
            <a:pathLst>
              <a:path w="5275694" h="755968">
                <a:moveTo>
                  <a:pt x="32169" y="0"/>
                </a:moveTo>
                <a:lnTo>
                  <a:pt x="5211353" y="0"/>
                </a:lnTo>
                <a:cubicBezTo>
                  <a:pt x="5246888" y="0"/>
                  <a:pt x="5275694" y="28806"/>
                  <a:pt x="5275694" y="64340"/>
                </a:cubicBezTo>
                <a:lnTo>
                  <a:pt x="5275694" y="691628"/>
                </a:lnTo>
                <a:cubicBezTo>
                  <a:pt x="5275694" y="727162"/>
                  <a:pt x="5246888" y="755968"/>
                  <a:pt x="5211353" y="755968"/>
                </a:cubicBezTo>
                <a:lnTo>
                  <a:pt x="32169" y="755968"/>
                </a:lnTo>
                <a:cubicBezTo>
                  <a:pt x="14402" y="755968"/>
                  <a:pt x="0" y="741566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03363" y="3699420"/>
            <a:ext cx="32169" cy="755968"/>
          </a:xfrm>
          <a:custGeom>
            <a:avLst/>
            <a:gdLst/>
            <a:ahLst/>
            <a:cxnLst/>
            <a:rect l="l" t="t" r="r" b="b"/>
            <a:pathLst>
              <a:path w="32169" h="755968">
                <a:moveTo>
                  <a:pt x="32169" y="0"/>
                </a:moveTo>
                <a:lnTo>
                  <a:pt x="32169" y="0"/>
                </a:lnTo>
                <a:lnTo>
                  <a:pt x="32169" y="755968"/>
                </a:lnTo>
                <a:lnTo>
                  <a:pt x="32169" y="755968"/>
                </a:lnTo>
                <a:cubicBezTo>
                  <a:pt x="14414" y="755968"/>
                  <a:pt x="0" y="741554"/>
                  <a:pt x="0" y="723799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6568229" y="3860264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80422" y="160844"/>
                </a:moveTo>
                <a:cubicBezTo>
                  <a:pt x="124808" y="160844"/>
                  <a:pt x="160844" y="124808"/>
                  <a:pt x="160844" y="80422"/>
                </a:cubicBezTo>
                <a:cubicBezTo>
                  <a:pt x="160844" y="36036"/>
                  <a:pt x="124808" y="0"/>
                  <a:pt x="80422" y="0"/>
                </a:cubicBezTo>
                <a:cubicBezTo>
                  <a:pt x="36036" y="0"/>
                  <a:pt x="0" y="36036"/>
                  <a:pt x="0" y="80422"/>
                </a:cubicBezTo>
                <a:cubicBezTo>
                  <a:pt x="0" y="124808"/>
                  <a:pt x="36036" y="160844"/>
                  <a:pt x="80422" y="160844"/>
                </a:cubicBezTo>
                <a:close/>
                <a:moveTo>
                  <a:pt x="106936" y="66820"/>
                </a:moveTo>
                <a:lnTo>
                  <a:pt x="81804" y="107031"/>
                </a:lnTo>
                <a:cubicBezTo>
                  <a:pt x="80485" y="109135"/>
                  <a:pt x="78223" y="110455"/>
                  <a:pt x="75741" y="110580"/>
                </a:cubicBezTo>
                <a:cubicBezTo>
                  <a:pt x="73260" y="110706"/>
                  <a:pt x="70872" y="109575"/>
                  <a:pt x="69396" y="107565"/>
                </a:cubicBezTo>
                <a:lnTo>
                  <a:pt x="54316" y="87459"/>
                </a:lnTo>
                <a:cubicBezTo>
                  <a:pt x="51803" y="84129"/>
                  <a:pt x="52494" y="79417"/>
                  <a:pt x="55824" y="76904"/>
                </a:cubicBezTo>
                <a:cubicBezTo>
                  <a:pt x="59154" y="74391"/>
                  <a:pt x="63867" y="75082"/>
                  <a:pt x="66380" y="78412"/>
                </a:cubicBezTo>
                <a:lnTo>
                  <a:pt x="74862" y="89721"/>
                </a:lnTo>
                <a:lnTo>
                  <a:pt x="94150" y="58840"/>
                </a:lnTo>
                <a:cubicBezTo>
                  <a:pt x="96350" y="55322"/>
                  <a:pt x="100999" y="54222"/>
                  <a:pt x="104549" y="56453"/>
                </a:cubicBezTo>
                <a:cubicBezTo>
                  <a:pt x="108099" y="58683"/>
                  <a:pt x="109167" y="63301"/>
                  <a:pt x="106936" y="6685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6845685" y="3828095"/>
            <a:ext cx="1487810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Ready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48123" y="4117615"/>
            <a:ext cx="5066596" cy="2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Defensible pricing strategy supported by market data and competitive analysis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6947" y="4811926"/>
            <a:ext cx="5675124" cy="1187567"/>
          </a:xfrm>
          <a:custGeom>
            <a:avLst/>
            <a:gdLst/>
            <a:ahLst/>
            <a:cxnLst/>
            <a:rect l="l" t="t" r="r" b="b"/>
            <a:pathLst>
              <a:path w="5675124" h="1187567">
                <a:moveTo>
                  <a:pt x="96502" y="0"/>
                </a:moveTo>
                <a:lnTo>
                  <a:pt x="5578622" y="0"/>
                </a:lnTo>
                <a:cubicBezTo>
                  <a:pt x="5631919" y="0"/>
                  <a:pt x="5675124" y="43205"/>
                  <a:pt x="5675124" y="96502"/>
                </a:cubicBezTo>
                <a:lnTo>
                  <a:pt x="5675124" y="1091066"/>
                </a:lnTo>
                <a:cubicBezTo>
                  <a:pt x="5675124" y="1144362"/>
                  <a:pt x="5631919" y="1187567"/>
                  <a:pt x="5578622" y="1187567"/>
                </a:cubicBezTo>
                <a:lnTo>
                  <a:pt x="96502" y="1187567"/>
                </a:lnTo>
                <a:cubicBezTo>
                  <a:pt x="43205" y="1187567"/>
                  <a:pt x="0" y="1144362"/>
                  <a:pt x="0" y="1091066"/>
                </a:cubicBezTo>
                <a:lnTo>
                  <a:pt x="0" y="96502"/>
                </a:lnTo>
                <a:cubicBezTo>
                  <a:pt x="0" y="43241"/>
                  <a:pt x="43241" y="0"/>
                  <a:pt x="965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6767" y="5023705"/>
            <a:ext cx="193013" cy="193013"/>
          </a:xfrm>
          <a:custGeom>
            <a:avLst/>
            <a:gdLst/>
            <a:ahLst/>
            <a:cxnLst/>
            <a:rect l="l" t="t" r="r" b="b"/>
            <a:pathLst>
              <a:path w="193013" h="193013">
                <a:moveTo>
                  <a:pt x="24127" y="24127"/>
                </a:moveTo>
                <a:cubicBezTo>
                  <a:pt x="24127" y="17454"/>
                  <a:pt x="18736" y="12063"/>
                  <a:pt x="12063" y="12063"/>
                </a:cubicBezTo>
                <a:cubicBezTo>
                  <a:pt x="5391" y="12063"/>
                  <a:pt x="0" y="17454"/>
                  <a:pt x="0" y="24127"/>
                </a:cubicBezTo>
                <a:lnTo>
                  <a:pt x="0" y="150792"/>
                </a:lnTo>
                <a:cubicBezTo>
                  <a:pt x="0" y="167454"/>
                  <a:pt x="13496" y="180950"/>
                  <a:pt x="30158" y="180950"/>
                </a:cubicBezTo>
                <a:lnTo>
                  <a:pt x="180950" y="180950"/>
                </a:lnTo>
                <a:cubicBezTo>
                  <a:pt x="187622" y="180950"/>
                  <a:pt x="193013" y="175559"/>
                  <a:pt x="193013" y="168887"/>
                </a:cubicBezTo>
                <a:cubicBezTo>
                  <a:pt x="193013" y="162214"/>
                  <a:pt x="187622" y="156823"/>
                  <a:pt x="180950" y="156823"/>
                </a:cubicBezTo>
                <a:lnTo>
                  <a:pt x="30158" y="156823"/>
                </a:lnTo>
                <a:cubicBezTo>
                  <a:pt x="26841" y="156823"/>
                  <a:pt x="24127" y="154109"/>
                  <a:pt x="24127" y="150792"/>
                </a:cubicBezTo>
                <a:lnTo>
                  <a:pt x="24127" y="24127"/>
                </a:lnTo>
                <a:close/>
                <a:moveTo>
                  <a:pt x="177406" y="56773"/>
                </a:moveTo>
                <a:cubicBezTo>
                  <a:pt x="182119" y="52061"/>
                  <a:pt x="182119" y="44408"/>
                  <a:pt x="177406" y="39696"/>
                </a:cubicBezTo>
                <a:cubicBezTo>
                  <a:pt x="172694" y="34984"/>
                  <a:pt x="165041" y="34984"/>
                  <a:pt x="160329" y="39696"/>
                </a:cubicBezTo>
                <a:lnTo>
                  <a:pt x="120633" y="79429"/>
                </a:lnTo>
                <a:lnTo>
                  <a:pt x="98995" y="57829"/>
                </a:lnTo>
                <a:cubicBezTo>
                  <a:pt x="94282" y="53116"/>
                  <a:pt x="86630" y="53116"/>
                  <a:pt x="81918" y="57829"/>
                </a:cubicBezTo>
                <a:lnTo>
                  <a:pt x="45728" y="94019"/>
                </a:lnTo>
                <a:cubicBezTo>
                  <a:pt x="41015" y="98731"/>
                  <a:pt x="41015" y="106383"/>
                  <a:pt x="45728" y="111096"/>
                </a:cubicBezTo>
                <a:cubicBezTo>
                  <a:pt x="50440" y="115808"/>
                  <a:pt x="58092" y="115808"/>
                  <a:pt x="62805" y="111096"/>
                </a:cubicBezTo>
                <a:lnTo>
                  <a:pt x="90475" y="83425"/>
                </a:lnTo>
                <a:lnTo>
                  <a:pt x="112114" y="105064"/>
                </a:lnTo>
                <a:cubicBezTo>
                  <a:pt x="116826" y="109776"/>
                  <a:pt x="124478" y="109776"/>
                  <a:pt x="129191" y="105064"/>
                </a:cubicBezTo>
                <a:lnTo>
                  <a:pt x="177444" y="5681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Text 42"/>
          <p:cNvSpPr/>
          <p:nvPr/>
        </p:nvSpPr>
        <p:spPr>
          <a:xfrm>
            <a:off x="6730414" y="5007621"/>
            <a:ext cx="1439557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92641" y="5329309"/>
            <a:ext cx="5356116" cy="474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pricing from </a:t>
            </a:r>
            <a:pPr>
              <a:lnSpc>
                <a:spcPct val="140000"/>
              </a:lnSpc>
            </a:pPr>
            <a:r>
              <a:rPr lang="en-US" sz="1140" dirty="0">
                <a:solidFill>
                  <a:srgbClr val="F7FAFC"/>
                </a:solidFill>
                <a:highlight>
                  <a:srgbClr val="38B2A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gut-based decisions </a:t>
            </a:r>
            <a:pPr>
              <a:lnSpc>
                <a:spcPct val="140000"/>
              </a:lnSpc>
            </a:pPr>
            <a:r>
              <a:rPr lang="en-US" sz="11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</a:t>
            </a:r>
            <a:pPr>
              <a:lnSpc>
                <a:spcPct val="140000"/>
              </a:lnSpc>
            </a:pPr>
            <a:r>
              <a:rPr lang="en-US" sz="1140" dirty="0">
                <a:solidFill>
                  <a:srgbClr val="F7FAFC"/>
                </a:solidFill>
                <a:highlight>
                  <a:srgbClr val="38B2A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strategy </a:t>
            </a:r>
            <a:pPr>
              <a:lnSpc>
                <a:spcPct val="140000"/>
              </a:lnSpc>
            </a:pPr>
            <a:r>
              <a:rPr lang="en-US" sz="11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capturing market value while maintaining competitive position.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689" y="321689"/>
            <a:ext cx="321689" cy="321689"/>
          </a:xfrm>
          <a:custGeom>
            <a:avLst/>
            <a:gdLst/>
            <a:ahLst/>
            <a:cxnLst/>
            <a:rect l="l" t="t" r="r" b="b"/>
            <a:pathLst>
              <a:path w="321689" h="321689">
                <a:moveTo>
                  <a:pt x="64338" y="0"/>
                </a:moveTo>
                <a:lnTo>
                  <a:pt x="257351" y="0"/>
                </a:lnTo>
                <a:cubicBezTo>
                  <a:pt x="292884" y="0"/>
                  <a:pt x="321689" y="28805"/>
                  <a:pt x="321689" y="64338"/>
                </a:cubicBezTo>
                <a:lnTo>
                  <a:pt x="321689" y="257351"/>
                </a:lnTo>
                <a:cubicBezTo>
                  <a:pt x="321689" y="292884"/>
                  <a:pt x="292884" y="321689"/>
                  <a:pt x="257351" y="321689"/>
                </a:cubicBezTo>
                <a:lnTo>
                  <a:pt x="64338" y="321689"/>
                </a:lnTo>
                <a:cubicBezTo>
                  <a:pt x="28805" y="321689"/>
                  <a:pt x="0" y="292884"/>
                  <a:pt x="0" y="257351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2058" y="402111"/>
            <a:ext cx="180950" cy="160844"/>
          </a:xfrm>
          <a:custGeom>
            <a:avLst/>
            <a:gdLst/>
            <a:ahLst/>
            <a:cxnLst/>
            <a:rect l="l" t="t" r="r" b="b"/>
            <a:pathLst>
              <a:path w="180950" h="160844">
                <a:moveTo>
                  <a:pt x="97229" y="-5937"/>
                </a:moveTo>
                <a:cubicBezTo>
                  <a:pt x="95941" y="-8451"/>
                  <a:pt x="93334" y="-10053"/>
                  <a:pt x="90506" y="-10053"/>
                </a:cubicBezTo>
                <a:cubicBezTo>
                  <a:pt x="87679" y="-10053"/>
                  <a:pt x="85072" y="-8451"/>
                  <a:pt x="83784" y="-5937"/>
                </a:cubicBezTo>
                <a:lnTo>
                  <a:pt x="60662" y="39363"/>
                </a:lnTo>
                <a:lnTo>
                  <a:pt x="10430" y="47342"/>
                </a:lnTo>
                <a:cubicBezTo>
                  <a:pt x="7634" y="47782"/>
                  <a:pt x="5309" y="49761"/>
                  <a:pt x="4430" y="52463"/>
                </a:cubicBezTo>
                <a:cubicBezTo>
                  <a:pt x="3550" y="55165"/>
                  <a:pt x="4272" y="58118"/>
                  <a:pt x="6252" y="60128"/>
                </a:cubicBezTo>
                <a:lnTo>
                  <a:pt x="42190" y="96098"/>
                </a:lnTo>
                <a:lnTo>
                  <a:pt x="34274" y="146331"/>
                </a:lnTo>
                <a:cubicBezTo>
                  <a:pt x="33834" y="149127"/>
                  <a:pt x="34996" y="151954"/>
                  <a:pt x="37289" y="153619"/>
                </a:cubicBezTo>
                <a:cubicBezTo>
                  <a:pt x="39583" y="155284"/>
                  <a:pt x="42599" y="155535"/>
                  <a:pt x="45143" y="154247"/>
                </a:cubicBezTo>
                <a:lnTo>
                  <a:pt x="90506" y="131189"/>
                </a:lnTo>
                <a:lnTo>
                  <a:pt x="135838" y="154247"/>
                </a:lnTo>
                <a:cubicBezTo>
                  <a:pt x="138351" y="155535"/>
                  <a:pt x="141398" y="155284"/>
                  <a:pt x="143692" y="153619"/>
                </a:cubicBezTo>
                <a:cubicBezTo>
                  <a:pt x="145985" y="151954"/>
                  <a:pt x="147147" y="149158"/>
                  <a:pt x="146708" y="146331"/>
                </a:cubicBezTo>
                <a:lnTo>
                  <a:pt x="138760" y="96098"/>
                </a:lnTo>
                <a:lnTo>
                  <a:pt x="174698" y="60128"/>
                </a:lnTo>
                <a:cubicBezTo>
                  <a:pt x="176709" y="58118"/>
                  <a:pt x="177400" y="55165"/>
                  <a:pt x="176520" y="52463"/>
                </a:cubicBezTo>
                <a:cubicBezTo>
                  <a:pt x="175641" y="49761"/>
                  <a:pt x="173347" y="47782"/>
                  <a:pt x="170520" y="47342"/>
                </a:cubicBezTo>
                <a:lnTo>
                  <a:pt x="120319" y="39363"/>
                </a:lnTo>
                <a:lnTo>
                  <a:pt x="97229" y="-593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39884" y="386026"/>
            <a:ext cx="1455641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spc="51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1689" y="739884"/>
            <a:ext cx="11741636" cy="38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1689" y="1190248"/>
            <a:ext cx="11645129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Value-Based Pricing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689" y="1608443"/>
            <a:ext cx="11548623" cy="2549383"/>
          </a:xfrm>
          <a:custGeom>
            <a:avLst/>
            <a:gdLst/>
            <a:ahLst/>
            <a:cxnLst/>
            <a:rect l="l" t="t" r="r" b="b"/>
            <a:pathLst>
              <a:path w="11548623" h="2549383">
                <a:moveTo>
                  <a:pt x="96494" y="0"/>
                </a:moveTo>
                <a:lnTo>
                  <a:pt x="11452129" y="0"/>
                </a:lnTo>
                <a:cubicBezTo>
                  <a:pt x="11505421" y="0"/>
                  <a:pt x="11548623" y="43202"/>
                  <a:pt x="11548623" y="96494"/>
                </a:cubicBezTo>
                <a:lnTo>
                  <a:pt x="11548623" y="2452888"/>
                </a:lnTo>
                <a:cubicBezTo>
                  <a:pt x="11548623" y="2506181"/>
                  <a:pt x="11505421" y="2549383"/>
                  <a:pt x="11452129" y="2549383"/>
                </a:cubicBezTo>
                <a:lnTo>
                  <a:pt x="96494" y="2549383"/>
                </a:lnTo>
                <a:cubicBezTo>
                  <a:pt x="43202" y="2549383"/>
                  <a:pt x="0" y="2506181"/>
                  <a:pt x="0" y="2452888"/>
                </a:cubicBezTo>
                <a:lnTo>
                  <a:pt x="0" y="96494"/>
                </a:lnTo>
                <a:cubicBezTo>
                  <a:pt x="0" y="43202"/>
                  <a:pt x="43202" y="0"/>
                  <a:pt x="96494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4702" y="1801456"/>
            <a:ext cx="1124301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vs. Recommended State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702" y="2155314"/>
          <a:ext cx="11162596" cy="1809499"/>
        </p:xfrm>
        <a:graphic>
          <a:graphicData uri="http://schemas.openxmlformats.org/drawingml/2006/table">
            <a:tbl>
              <a:tblPr/>
              <a:tblGrid>
                <a:gridCol w="1984997"/>
                <a:gridCol w="2322527"/>
                <a:gridCol w="4251270"/>
                <a:gridCol w="2603802"/>
              </a:tblGrid>
              <a:tr h="45237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Metric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Current State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Recommended State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Projected Impact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</a:tr>
              <a:tr h="45237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Weekend Price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$81 (fixed)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$95-105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+$3-5M annually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</a:tr>
              <a:tr h="45237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Pricing Basis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feature valuation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Tied to vertical drop, terrain, snowmaking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Competitive positioning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</a:tr>
              <a:tr h="45237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 Process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Gut-based decisions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Data-driven model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Defensible pricing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8675" marR="128675" marT="128675" marB="128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4369" y="4324033"/>
            <a:ext cx="3736950" cy="2538660"/>
          </a:xfrm>
          <a:custGeom>
            <a:avLst/>
            <a:gdLst/>
            <a:ahLst/>
            <a:cxnLst/>
            <a:rect l="l" t="t" r="r" b="b"/>
            <a:pathLst>
              <a:path w="3736950" h="2538660">
                <a:moveTo>
                  <a:pt x="96494" y="0"/>
                </a:moveTo>
                <a:lnTo>
                  <a:pt x="3640455" y="0"/>
                </a:lnTo>
                <a:cubicBezTo>
                  <a:pt x="3693748" y="0"/>
                  <a:pt x="3736950" y="43202"/>
                  <a:pt x="3736950" y="96494"/>
                </a:cubicBezTo>
                <a:lnTo>
                  <a:pt x="3736950" y="2442165"/>
                </a:lnTo>
                <a:cubicBezTo>
                  <a:pt x="3736950" y="2495458"/>
                  <a:pt x="3693748" y="2538660"/>
                  <a:pt x="3640455" y="2538660"/>
                </a:cubicBezTo>
                <a:lnTo>
                  <a:pt x="96494" y="2538660"/>
                </a:lnTo>
                <a:cubicBezTo>
                  <a:pt x="43202" y="2538660"/>
                  <a:pt x="0" y="2495458"/>
                  <a:pt x="0" y="2442165"/>
                </a:cubicBezTo>
                <a:lnTo>
                  <a:pt x="0" y="96494"/>
                </a:lnTo>
                <a:cubicBezTo>
                  <a:pt x="0" y="43238"/>
                  <a:pt x="43238" y="0"/>
                  <a:pt x="964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2391" y="4916476"/>
            <a:ext cx="180950" cy="241266"/>
          </a:xfrm>
          <a:custGeom>
            <a:avLst/>
            <a:gdLst/>
            <a:ahLst/>
            <a:cxnLst/>
            <a:rect l="l" t="t" r="r" b="b"/>
            <a:pathLst>
              <a:path w="180950" h="241266">
                <a:moveTo>
                  <a:pt x="101125" y="8199"/>
                </a:moveTo>
                <a:cubicBezTo>
                  <a:pt x="95234" y="2309"/>
                  <a:pt x="85668" y="2309"/>
                  <a:pt x="79778" y="8199"/>
                </a:cubicBezTo>
                <a:lnTo>
                  <a:pt x="4382" y="83595"/>
                </a:lnTo>
                <a:cubicBezTo>
                  <a:pt x="-1508" y="89485"/>
                  <a:pt x="-1508" y="99051"/>
                  <a:pt x="4382" y="104941"/>
                </a:cubicBezTo>
                <a:cubicBezTo>
                  <a:pt x="10273" y="110832"/>
                  <a:pt x="19839" y="110832"/>
                  <a:pt x="25729" y="104941"/>
                </a:cubicBezTo>
                <a:lnTo>
                  <a:pt x="75396" y="55275"/>
                </a:lnTo>
                <a:lnTo>
                  <a:pt x="75396" y="229957"/>
                </a:lnTo>
                <a:cubicBezTo>
                  <a:pt x="75396" y="238298"/>
                  <a:pt x="82134" y="245036"/>
                  <a:pt x="90475" y="245036"/>
                </a:cubicBezTo>
                <a:cubicBezTo>
                  <a:pt x="98816" y="245036"/>
                  <a:pt x="105554" y="238298"/>
                  <a:pt x="105554" y="229957"/>
                </a:cubicBezTo>
                <a:lnTo>
                  <a:pt x="105554" y="55275"/>
                </a:lnTo>
                <a:lnTo>
                  <a:pt x="155221" y="104941"/>
                </a:lnTo>
                <a:cubicBezTo>
                  <a:pt x="161111" y="110832"/>
                  <a:pt x="170677" y="110832"/>
                  <a:pt x="176567" y="104941"/>
                </a:cubicBezTo>
                <a:cubicBezTo>
                  <a:pt x="182458" y="99051"/>
                  <a:pt x="182458" y="89485"/>
                  <a:pt x="176567" y="83595"/>
                </a:cubicBezTo>
                <a:lnTo>
                  <a:pt x="101172" y="819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9"/>
          <p:cNvSpPr/>
          <p:nvPr/>
        </p:nvSpPr>
        <p:spPr>
          <a:xfrm>
            <a:off x="918153" y="4908434"/>
            <a:ext cx="1093741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0063" y="5294460"/>
            <a:ext cx="3442069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Underpriced by 15-25%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0063" y="5648318"/>
            <a:ext cx="3409900" cy="62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Mountain's current pricing is significantly below comparable resorts with similar amenities and market positioning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6017" y="4321352"/>
            <a:ext cx="3739631" cy="2541340"/>
          </a:xfrm>
          <a:custGeom>
            <a:avLst/>
            <a:gdLst/>
            <a:ahLst/>
            <a:cxnLst/>
            <a:rect l="l" t="t" r="r" b="b"/>
            <a:pathLst>
              <a:path w="3739631" h="2541340">
                <a:moveTo>
                  <a:pt x="96495" y="0"/>
                </a:moveTo>
                <a:lnTo>
                  <a:pt x="3643136" y="0"/>
                </a:lnTo>
                <a:cubicBezTo>
                  <a:pt x="3696428" y="0"/>
                  <a:pt x="3739631" y="43202"/>
                  <a:pt x="3739631" y="96495"/>
                </a:cubicBezTo>
                <a:lnTo>
                  <a:pt x="3739631" y="2444846"/>
                </a:lnTo>
                <a:cubicBezTo>
                  <a:pt x="3739631" y="2498138"/>
                  <a:pt x="3696428" y="2541340"/>
                  <a:pt x="3643136" y="2541340"/>
                </a:cubicBezTo>
                <a:lnTo>
                  <a:pt x="96495" y="2541340"/>
                </a:lnTo>
                <a:cubicBezTo>
                  <a:pt x="43202" y="2541340"/>
                  <a:pt x="0" y="2498138"/>
                  <a:pt x="0" y="2444846"/>
                </a:cubicBezTo>
                <a:lnTo>
                  <a:pt x="0" y="96495"/>
                </a:lnTo>
                <a:cubicBezTo>
                  <a:pt x="0" y="43202"/>
                  <a:pt x="43202" y="0"/>
                  <a:pt x="9649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451199" y="4892350"/>
            <a:ext cx="241266" cy="241266"/>
          </a:xfrm>
          <a:custGeom>
            <a:avLst/>
            <a:gdLst/>
            <a:ahLst/>
            <a:cxnLst/>
            <a:rect l="l" t="t" r="r" b="b"/>
            <a:pathLst>
              <a:path w="241266" h="241266">
                <a:moveTo>
                  <a:pt x="120869" y="0"/>
                </a:moveTo>
                <a:cubicBezTo>
                  <a:pt x="127796" y="0"/>
                  <a:pt x="134157" y="3817"/>
                  <a:pt x="137456" y="9896"/>
                </a:cubicBezTo>
                <a:lnTo>
                  <a:pt x="239240" y="198385"/>
                </a:lnTo>
                <a:cubicBezTo>
                  <a:pt x="242397" y="204228"/>
                  <a:pt x="242256" y="211297"/>
                  <a:pt x="238863" y="216998"/>
                </a:cubicBezTo>
                <a:cubicBezTo>
                  <a:pt x="235470" y="222700"/>
                  <a:pt x="229297" y="226187"/>
                  <a:pt x="222700" y="226187"/>
                </a:cubicBezTo>
                <a:lnTo>
                  <a:pt x="19132" y="226187"/>
                </a:lnTo>
                <a:cubicBezTo>
                  <a:pt x="12487" y="226187"/>
                  <a:pt x="6362" y="222700"/>
                  <a:pt x="2969" y="216998"/>
                </a:cubicBezTo>
                <a:cubicBezTo>
                  <a:pt x="-424" y="211297"/>
                  <a:pt x="-565" y="204228"/>
                  <a:pt x="2592" y="198385"/>
                </a:cubicBezTo>
                <a:lnTo>
                  <a:pt x="104376" y="9896"/>
                </a:lnTo>
                <a:lnTo>
                  <a:pt x="105743" y="7728"/>
                </a:lnTo>
                <a:cubicBezTo>
                  <a:pt x="109183" y="2922"/>
                  <a:pt x="114790" y="0"/>
                  <a:pt x="120869" y="0"/>
                </a:cubicBezTo>
                <a:close/>
                <a:moveTo>
                  <a:pt x="80297" y="117759"/>
                </a:moveTo>
                <a:lnTo>
                  <a:pt x="92925" y="130388"/>
                </a:lnTo>
                <a:cubicBezTo>
                  <a:pt x="95847" y="133309"/>
                  <a:pt x="100653" y="133309"/>
                  <a:pt x="103575" y="130388"/>
                </a:cubicBezTo>
                <a:lnTo>
                  <a:pt x="123979" y="109984"/>
                </a:lnTo>
                <a:cubicBezTo>
                  <a:pt x="126806" y="107156"/>
                  <a:pt x="130623" y="105554"/>
                  <a:pt x="134629" y="105554"/>
                </a:cubicBezTo>
                <a:lnTo>
                  <a:pt x="154797" y="105554"/>
                </a:lnTo>
                <a:lnTo>
                  <a:pt x="120822" y="42646"/>
                </a:lnTo>
                <a:lnTo>
                  <a:pt x="80249" y="11775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4"/>
          <p:cNvSpPr/>
          <p:nvPr/>
        </p:nvSpPr>
        <p:spPr>
          <a:xfrm>
            <a:off x="4817120" y="4884307"/>
            <a:ext cx="1600401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Premiums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19031" y="5270334"/>
            <a:ext cx="3425984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pay premiums for: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443157" y="5624191"/>
            <a:ext cx="112591" cy="128675"/>
          </a:xfrm>
          <a:custGeom>
            <a:avLst/>
            <a:gdLst/>
            <a:ahLst/>
            <a:cxnLst/>
            <a:rect l="l" t="t" r="r" b="b"/>
            <a:pathLst>
              <a:path w="112591" h="128675">
                <a:moveTo>
                  <a:pt x="109274" y="17617"/>
                </a:moveTo>
                <a:cubicBezTo>
                  <a:pt x="112867" y="20231"/>
                  <a:pt x="113672" y="25258"/>
                  <a:pt x="111058" y="28851"/>
                </a:cubicBezTo>
                <a:lnTo>
                  <a:pt x="46720" y="117316"/>
                </a:lnTo>
                <a:cubicBezTo>
                  <a:pt x="45338" y="119226"/>
                  <a:pt x="43202" y="120407"/>
                  <a:pt x="40839" y="120608"/>
                </a:cubicBezTo>
                <a:cubicBezTo>
                  <a:pt x="38477" y="120809"/>
                  <a:pt x="36190" y="119930"/>
                  <a:pt x="34531" y="118271"/>
                </a:cubicBezTo>
                <a:lnTo>
                  <a:pt x="2362" y="86102"/>
                </a:lnTo>
                <a:cubicBezTo>
                  <a:pt x="-779" y="82960"/>
                  <a:pt x="-779" y="77859"/>
                  <a:pt x="2362" y="74717"/>
                </a:cubicBezTo>
                <a:cubicBezTo>
                  <a:pt x="5504" y="71576"/>
                  <a:pt x="10606" y="71576"/>
                  <a:pt x="13747" y="74717"/>
                </a:cubicBezTo>
                <a:lnTo>
                  <a:pt x="39256" y="100226"/>
                </a:lnTo>
                <a:lnTo>
                  <a:pt x="98065" y="19377"/>
                </a:lnTo>
                <a:cubicBezTo>
                  <a:pt x="100678" y="15783"/>
                  <a:pt x="105705" y="14979"/>
                  <a:pt x="109299" y="1759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7"/>
          <p:cNvSpPr/>
          <p:nvPr/>
        </p:nvSpPr>
        <p:spPr>
          <a:xfrm>
            <a:off x="4644213" y="5592022"/>
            <a:ext cx="1286755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drop capacity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43157" y="5881542"/>
            <a:ext cx="112591" cy="128675"/>
          </a:xfrm>
          <a:custGeom>
            <a:avLst/>
            <a:gdLst/>
            <a:ahLst/>
            <a:cxnLst/>
            <a:rect l="l" t="t" r="r" b="b"/>
            <a:pathLst>
              <a:path w="112591" h="128675">
                <a:moveTo>
                  <a:pt x="109274" y="17617"/>
                </a:moveTo>
                <a:cubicBezTo>
                  <a:pt x="112867" y="20231"/>
                  <a:pt x="113672" y="25258"/>
                  <a:pt x="111058" y="28851"/>
                </a:cubicBezTo>
                <a:lnTo>
                  <a:pt x="46720" y="117316"/>
                </a:lnTo>
                <a:cubicBezTo>
                  <a:pt x="45338" y="119226"/>
                  <a:pt x="43202" y="120407"/>
                  <a:pt x="40839" y="120608"/>
                </a:cubicBezTo>
                <a:cubicBezTo>
                  <a:pt x="38477" y="120809"/>
                  <a:pt x="36190" y="119930"/>
                  <a:pt x="34531" y="118271"/>
                </a:cubicBezTo>
                <a:lnTo>
                  <a:pt x="2362" y="86102"/>
                </a:lnTo>
                <a:cubicBezTo>
                  <a:pt x="-779" y="82960"/>
                  <a:pt x="-779" y="77859"/>
                  <a:pt x="2362" y="74717"/>
                </a:cubicBezTo>
                <a:cubicBezTo>
                  <a:pt x="5504" y="71576"/>
                  <a:pt x="10606" y="71576"/>
                  <a:pt x="13747" y="74717"/>
                </a:cubicBezTo>
                <a:lnTo>
                  <a:pt x="39256" y="100226"/>
                </a:lnTo>
                <a:lnTo>
                  <a:pt x="98065" y="19377"/>
                </a:lnTo>
                <a:cubicBezTo>
                  <a:pt x="100678" y="15783"/>
                  <a:pt x="105705" y="14979"/>
                  <a:pt x="109299" y="1759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19"/>
          <p:cNvSpPr/>
          <p:nvPr/>
        </p:nvSpPr>
        <p:spPr>
          <a:xfrm>
            <a:off x="4644213" y="5849373"/>
            <a:ext cx="1254586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quad lift systems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43157" y="6138893"/>
            <a:ext cx="112591" cy="128675"/>
          </a:xfrm>
          <a:custGeom>
            <a:avLst/>
            <a:gdLst/>
            <a:ahLst/>
            <a:cxnLst/>
            <a:rect l="l" t="t" r="r" b="b"/>
            <a:pathLst>
              <a:path w="112591" h="128675">
                <a:moveTo>
                  <a:pt x="109274" y="17617"/>
                </a:moveTo>
                <a:cubicBezTo>
                  <a:pt x="112867" y="20231"/>
                  <a:pt x="113672" y="25258"/>
                  <a:pt x="111058" y="28851"/>
                </a:cubicBezTo>
                <a:lnTo>
                  <a:pt x="46720" y="117316"/>
                </a:lnTo>
                <a:cubicBezTo>
                  <a:pt x="45338" y="119226"/>
                  <a:pt x="43202" y="120407"/>
                  <a:pt x="40839" y="120608"/>
                </a:cubicBezTo>
                <a:cubicBezTo>
                  <a:pt x="38477" y="120809"/>
                  <a:pt x="36190" y="119930"/>
                  <a:pt x="34531" y="118271"/>
                </a:cubicBezTo>
                <a:lnTo>
                  <a:pt x="2362" y="86102"/>
                </a:lnTo>
                <a:cubicBezTo>
                  <a:pt x="-779" y="82960"/>
                  <a:pt x="-779" y="77859"/>
                  <a:pt x="2362" y="74717"/>
                </a:cubicBezTo>
                <a:cubicBezTo>
                  <a:pt x="5504" y="71576"/>
                  <a:pt x="10606" y="71576"/>
                  <a:pt x="13747" y="74717"/>
                </a:cubicBezTo>
                <a:lnTo>
                  <a:pt x="39256" y="100226"/>
                </a:lnTo>
                <a:lnTo>
                  <a:pt x="98065" y="19377"/>
                </a:lnTo>
                <a:cubicBezTo>
                  <a:pt x="100678" y="15783"/>
                  <a:pt x="105705" y="14979"/>
                  <a:pt x="109299" y="1759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1"/>
          <p:cNvSpPr/>
          <p:nvPr/>
        </p:nvSpPr>
        <p:spPr>
          <a:xfrm>
            <a:off x="4644213" y="6106724"/>
            <a:ext cx="1326966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Snowmaking coverage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30346" y="4321352"/>
            <a:ext cx="3739631" cy="2541340"/>
          </a:xfrm>
          <a:custGeom>
            <a:avLst/>
            <a:gdLst/>
            <a:ahLst/>
            <a:cxnLst/>
            <a:rect l="l" t="t" r="r" b="b"/>
            <a:pathLst>
              <a:path w="3739631" h="2541340">
                <a:moveTo>
                  <a:pt x="96495" y="0"/>
                </a:moveTo>
                <a:lnTo>
                  <a:pt x="3643136" y="0"/>
                </a:lnTo>
                <a:cubicBezTo>
                  <a:pt x="3696428" y="0"/>
                  <a:pt x="3739631" y="43202"/>
                  <a:pt x="3739631" y="96495"/>
                </a:cubicBezTo>
                <a:lnTo>
                  <a:pt x="3739631" y="2444846"/>
                </a:lnTo>
                <a:cubicBezTo>
                  <a:pt x="3739631" y="2498138"/>
                  <a:pt x="3696428" y="2541340"/>
                  <a:pt x="3643136" y="2541340"/>
                </a:cubicBezTo>
                <a:lnTo>
                  <a:pt x="96495" y="2541340"/>
                </a:lnTo>
                <a:cubicBezTo>
                  <a:pt x="43202" y="2541340"/>
                  <a:pt x="0" y="2498138"/>
                  <a:pt x="0" y="2444846"/>
                </a:cubicBezTo>
                <a:lnTo>
                  <a:pt x="0" y="96495"/>
                </a:lnTo>
                <a:cubicBezTo>
                  <a:pt x="0" y="43202"/>
                  <a:pt x="43202" y="0"/>
                  <a:pt x="9649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355528" y="4522408"/>
            <a:ext cx="241266" cy="241266"/>
          </a:xfrm>
          <a:custGeom>
            <a:avLst/>
            <a:gdLst/>
            <a:ahLst/>
            <a:cxnLst/>
            <a:rect l="l" t="t" r="r" b="b"/>
            <a:pathLst>
              <a:path w="241266" h="241266">
                <a:moveTo>
                  <a:pt x="67998" y="0"/>
                </a:moveTo>
                <a:lnTo>
                  <a:pt x="173552" y="0"/>
                </a:lnTo>
                <a:cubicBezTo>
                  <a:pt x="186039" y="0"/>
                  <a:pt x="196218" y="10273"/>
                  <a:pt x="195746" y="22713"/>
                </a:cubicBezTo>
                <a:cubicBezTo>
                  <a:pt x="195652" y="25210"/>
                  <a:pt x="195558" y="27708"/>
                  <a:pt x="195416" y="30158"/>
                </a:cubicBezTo>
                <a:lnTo>
                  <a:pt x="218789" y="30158"/>
                </a:lnTo>
                <a:cubicBezTo>
                  <a:pt x="231088" y="30158"/>
                  <a:pt x="241926" y="40337"/>
                  <a:pt x="240984" y="53625"/>
                </a:cubicBezTo>
                <a:cubicBezTo>
                  <a:pt x="237450" y="102491"/>
                  <a:pt x="212475" y="129351"/>
                  <a:pt x="185379" y="143393"/>
                </a:cubicBezTo>
                <a:cubicBezTo>
                  <a:pt x="177934" y="147257"/>
                  <a:pt x="170347" y="150132"/>
                  <a:pt x="163138" y="152252"/>
                </a:cubicBezTo>
                <a:cubicBezTo>
                  <a:pt x="153619" y="165729"/>
                  <a:pt x="143723" y="172845"/>
                  <a:pt x="135854" y="176662"/>
                </a:cubicBezTo>
                <a:lnTo>
                  <a:pt x="135854" y="211108"/>
                </a:lnTo>
                <a:lnTo>
                  <a:pt x="166012" y="211108"/>
                </a:lnTo>
                <a:cubicBezTo>
                  <a:pt x="174353" y="211108"/>
                  <a:pt x="181091" y="217847"/>
                  <a:pt x="181091" y="226187"/>
                </a:cubicBezTo>
                <a:cubicBezTo>
                  <a:pt x="181091" y="234528"/>
                  <a:pt x="174353" y="241266"/>
                  <a:pt x="166012" y="241266"/>
                </a:cubicBezTo>
                <a:lnTo>
                  <a:pt x="75537" y="241266"/>
                </a:lnTo>
                <a:cubicBezTo>
                  <a:pt x="67196" y="241266"/>
                  <a:pt x="60458" y="234528"/>
                  <a:pt x="60458" y="226187"/>
                </a:cubicBezTo>
                <a:cubicBezTo>
                  <a:pt x="60458" y="217847"/>
                  <a:pt x="67196" y="211108"/>
                  <a:pt x="75537" y="211108"/>
                </a:cubicBezTo>
                <a:lnTo>
                  <a:pt x="105695" y="211108"/>
                </a:lnTo>
                <a:lnTo>
                  <a:pt x="105695" y="176662"/>
                </a:lnTo>
                <a:cubicBezTo>
                  <a:pt x="98156" y="173033"/>
                  <a:pt x="88779" y="166295"/>
                  <a:pt x="79637" y="153902"/>
                </a:cubicBezTo>
                <a:cubicBezTo>
                  <a:pt x="70966" y="151640"/>
                  <a:pt x="61542" y="148200"/>
                  <a:pt x="52353" y="143016"/>
                </a:cubicBezTo>
                <a:cubicBezTo>
                  <a:pt x="26860" y="128738"/>
                  <a:pt x="3864" y="101831"/>
                  <a:pt x="565" y="53531"/>
                </a:cubicBezTo>
                <a:cubicBezTo>
                  <a:pt x="-330" y="40290"/>
                  <a:pt x="10461" y="30111"/>
                  <a:pt x="22760" y="30111"/>
                </a:cubicBezTo>
                <a:lnTo>
                  <a:pt x="46133" y="30111"/>
                </a:lnTo>
                <a:cubicBezTo>
                  <a:pt x="45991" y="27661"/>
                  <a:pt x="45897" y="25210"/>
                  <a:pt x="45803" y="22666"/>
                </a:cubicBezTo>
                <a:cubicBezTo>
                  <a:pt x="45332" y="10178"/>
                  <a:pt x="55510" y="-47"/>
                  <a:pt x="67998" y="-47"/>
                </a:cubicBezTo>
                <a:close/>
                <a:moveTo>
                  <a:pt x="47829" y="52777"/>
                </a:moveTo>
                <a:lnTo>
                  <a:pt x="23137" y="52777"/>
                </a:lnTo>
                <a:cubicBezTo>
                  <a:pt x="26059" y="92690"/>
                  <a:pt x="44389" y="112670"/>
                  <a:pt x="63285" y="123272"/>
                </a:cubicBezTo>
                <a:cubicBezTo>
                  <a:pt x="56500" y="105695"/>
                  <a:pt x="50892" y="82747"/>
                  <a:pt x="47829" y="52777"/>
                </a:cubicBezTo>
                <a:close/>
                <a:moveTo>
                  <a:pt x="179065" y="121010"/>
                </a:moveTo>
                <a:cubicBezTo>
                  <a:pt x="198150" y="109795"/>
                  <a:pt x="215396" y="89862"/>
                  <a:pt x="218318" y="52777"/>
                </a:cubicBezTo>
                <a:lnTo>
                  <a:pt x="193673" y="52777"/>
                </a:lnTo>
                <a:cubicBezTo>
                  <a:pt x="190751" y="81475"/>
                  <a:pt x="185474" y="103763"/>
                  <a:pt x="179065" y="12101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4"/>
          <p:cNvSpPr/>
          <p:nvPr/>
        </p:nvSpPr>
        <p:spPr>
          <a:xfrm>
            <a:off x="8721449" y="4514365"/>
            <a:ext cx="1616485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Edge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23359" y="4900392"/>
            <a:ext cx="3425984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 advantages: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23359" y="5222080"/>
            <a:ext cx="3353604" cy="418195"/>
          </a:xfrm>
          <a:custGeom>
            <a:avLst/>
            <a:gdLst/>
            <a:ahLst/>
            <a:cxnLst/>
            <a:rect l="l" t="t" r="r" b="b"/>
            <a:pathLst>
              <a:path w="3353604" h="418195">
                <a:moveTo>
                  <a:pt x="32168" y="0"/>
                </a:moveTo>
                <a:lnTo>
                  <a:pt x="3321437" y="0"/>
                </a:lnTo>
                <a:cubicBezTo>
                  <a:pt x="3339202" y="0"/>
                  <a:pt x="3353604" y="14402"/>
                  <a:pt x="3353604" y="32168"/>
                </a:cubicBezTo>
                <a:lnTo>
                  <a:pt x="3353604" y="386028"/>
                </a:lnTo>
                <a:cubicBezTo>
                  <a:pt x="3353604" y="403793"/>
                  <a:pt x="3339202" y="418195"/>
                  <a:pt x="3321437" y="418195"/>
                </a:cubicBezTo>
                <a:lnTo>
                  <a:pt x="32168" y="418195"/>
                </a:lnTo>
                <a:cubicBezTo>
                  <a:pt x="14402" y="418195"/>
                  <a:pt x="0" y="403793"/>
                  <a:pt x="0" y="386028"/>
                </a:cubicBezTo>
                <a:lnTo>
                  <a:pt x="0" y="32168"/>
                </a:lnTo>
                <a:cubicBezTo>
                  <a:pt x="0" y="14402"/>
                  <a:pt x="14402" y="0"/>
                  <a:pt x="321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419866" y="5334671"/>
            <a:ext cx="804222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Drop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067012" y="5318587"/>
            <a:ext cx="595124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2,353 ft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323359" y="5736782"/>
            <a:ext cx="3353604" cy="418195"/>
          </a:xfrm>
          <a:custGeom>
            <a:avLst/>
            <a:gdLst/>
            <a:ahLst/>
            <a:cxnLst/>
            <a:rect l="l" t="t" r="r" b="b"/>
            <a:pathLst>
              <a:path w="3353604" h="418195">
                <a:moveTo>
                  <a:pt x="32168" y="0"/>
                </a:moveTo>
                <a:lnTo>
                  <a:pt x="3321437" y="0"/>
                </a:lnTo>
                <a:cubicBezTo>
                  <a:pt x="3339202" y="0"/>
                  <a:pt x="3353604" y="14402"/>
                  <a:pt x="3353604" y="32168"/>
                </a:cubicBezTo>
                <a:lnTo>
                  <a:pt x="3353604" y="386028"/>
                </a:lnTo>
                <a:cubicBezTo>
                  <a:pt x="3353604" y="403793"/>
                  <a:pt x="3339202" y="418195"/>
                  <a:pt x="3321437" y="418195"/>
                </a:cubicBezTo>
                <a:lnTo>
                  <a:pt x="32168" y="418195"/>
                </a:lnTo>
                <a:cubicBezTo>
                  <a:pt x="14402" y="418195"/>
                  <a:pt x="0" y="403793"/>
                  <a:pt x="0" y="386028"/>
                </a:cubicBezTo>
                <a:lnTo>
                  <a:pt x="0" y="32168"/>
                </a:lnTo>
                <a:cubicBezTo>
                  <a:pt x="0" y="14402"/>
                  <a:pt x="14402" y="0"/>
                  <a:pt x="321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419866" y="5849373"/>
            <a:ext cx="683588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Quads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214955" y="5833289"/>
            <a:ext cx="450364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lifts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23359" y="6251484"/>
            <a:ext cx="3353604" cy="418195"/>
          </a:xfrm>
          <a:custGeom>
            <a:avLst/>
            <a:gdLst/>
            <a:ahLst/>
            <a:cxnLst/>
            <a:rect l="l" t="t" r="r" b="b"/>
            <a:pathLst>
              <a:path w="3353604" h="418195">
                <a:moveTo>
                  <a:pt x="32168" y="0"/>
                </a:moveTo>
                <a:lnTo>
                  <a:pt x="3321437" y="0"/>
                </a:lnTo>
                <a:cubicBezTo>
                  <a:pt x="3339202" y="0"/>
                  <a:pt x="3353604" y="14402"/>
                  <a:pt x="3353604" y="32168"/>
                </a:cubicBezTo>
                <a:lnTo>
                  <a:pt x="3353604" y="386028"/>
                </a:lnTo>
                <a:cubicBezTo>
                  <a:pt x="3353604" y="403793"/>
                  <a:pt x="3339202" y="418195"/>
                  <a:pt x="3321437" y="418195"/>
                </a:cubicBezTo>
                <a:lnTo>
                  <a:pt x="32168" y="418195"/>
                </a:lnTo>
                <a:cubicBezTo>
                  <a:pt x="14402" y="418195"/>
                  <a:pt x="0" y="403793"/>
                  <a:pt x="0" y="386028"/>
                </a:cubicBezTo>
                <a:lnTo>
                  <a:pt x="0" y="32168"/>
                </a:lnTo>
                <a:cubicBezTo>
                  <a:pt x="0" y="14402"/>
                  <a:pt x="14402" y="0"/>
                  <a:pt x="3216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8419866" y="6364075"/>
            <a:ext cx="780095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Snowmaking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277534" y="6347991"/>
            <a:ext cx="386026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44650"/>
            <a:ext cx="344650" cy="344650"/>
          </a:xfrm>
          <a:custGeom>
            <a:avLst/>
            <a:gdLst/>
            <a:ahLst/>
            <a:cxnLst/>
            <a:rect l="l" t="t" r="r" b="b"/>
            <a:pathLst>
              <a:path w="344650" h="344650">
                <a:moveTo>
                  <a:pt x="68930" y="0"/>
                </a:moveTo>
                <a:lnTo>
                  <a:pt x="275720" y="0"/>
                </a:lnTo>
                <a:cubicBezTo>
                  <a:pt x="313764" y="0"/>
                  <a:pt x="344650" y="30887"/>
                  <a:pt x="344650" y="68930"/>
                </a:cubicBezTo>
                <a:lnTo>
                  <a:pt x="344650" y="275720"/>
                </a:lnTo>
                <a:cubicBezTo>
                  <a:pt x="344650" y="313764"/>
                  <a:pt x="313764" y="344650"/>
                  <a:pt x="275720" y="344650"/>
                </a:cubicBezTo>
                <a:lnTo>
                  <a:pt x="68930" y="344650"/>
                </a:lnTo>
                <a:cubicBezTo>
                  <a:pt x="30887" y="344650"/>
                  <a:pt x="0" y="313764"/>
                  <a:pt x="0" y="27572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1583" y="430813"/>
            <a:ext cx="150784" cy="172325"/>
          </a:xfrm>
          <a:custGeom>
            <a:avLst/>
            <a:gdLst/>
            <a:ahLst/>
            <a:cxnLst/>
            <a:rect l="l" t="t" r="r" b="b"/>
            <a:pathLst>
              <a:path w="150784" h="172325">
                <a:moveTo>
                  <a:pt x="96933" y="0"/>
                </a:moveTo>
                <a:lnTo>
                  <a:pt x="43081" y="0"/>
                </a:lnTo>
                <a:cubicBezTo>
                  <a:pt x="37124" y="0"/>
                  <a:pt x="32311" y="4813"/>
                  <a:pt x="32311" y="10770"/>
                </a:cubicBezTo>
                <a:cubicBezTo>
                  <a:pt x="32311" y="16728"/>
                  <a:pt x="37124" y="21541"/>
                  <a:pt x="43081" y="21541"/>
                </a:cubicBezTo>
                <a:lnTo>
                  <a:pt x="43081" y="72531"/>
                </a:lnTo>
                <a:lnTo>
                  <a:pt x="2524" y="143481"/>
                </a:lnTo>
                <a:cubicBezTo>
                  <a:pt x="875" y="146409"/>
                  <a:pt x="0" y="149674"/>
                  <a:pt x="0" y="153039"/>
                </a:cubicBezTo>
                <a:cubicBezTo>
                  <a:pt x="0" y="163709"/>
                  <a:pt x="8616" y="172325"/>
                  <a:pt x="19286" y="172325"/>
                </a:cubicBezTo>
                <a:lnTo>
                  <a:pt x="131499" y="172325"/>
                </a:lnTo>
                <a:cubicBezTo>
                  <a:pt x="142135" y="172325"/>
                  <a:pt x="150784" y="163709"/>
                  <a:pt x="150784" y="153039"/>
                </a:cubicBezTo>
                <a:cubicBezTo>
                  <a:pt x="150784" y="149674"/>
                  <a:pt x="149909" y="146375"/>
                  <a:pt x="148260" y="143481"/>
                </a:cubicBezTo>
                <a:lnTo>
                  <a:pt x="107703" y="72531"/>
                </a:lnTo>
                <a:lnTo>
                  <a:pt x="107703" y="21541"/>
                </a:lnTo>
                <a:cubicBezTo>
                  <a:pt x="113661" y="21541"/>
                  <a:pt x="118473" y="16728"/>
                  <a:pt x="118473" y="10770"/>
                </a:cubicBezTo>
                <a:cubicBezTo>
                  <a:pt x="118473" y="4813"/>
                  <a:pt x="113661" y="0"/>
                  <a:pt x="107703" y="0"/>
                </a:cubicBezTo>
                <a:lnTo>
                  <a:pt x="96933" y="0"/>
                </a:lnTo>
                <a:close/>
                <a:moveTo>
                  <a:pt x="64622" y="72531"/>
                </a:moveTo>
                <a:lnTo>
                  <a:pt x="64622" y="21541"/>
                </a:lnTo>
                <a:lnTo>
                  <a:pt x="86163" y="21541"/>
                </a:lnTo>
                <a:lnTo>
                  <a:pt x="86163" y="72531"/>
                </a:lnTo>
                <a:cubicBezTo>
                  <a:pt x="86163" y="76267"/>
                  <a:pt x="87139" y="79970"/>
                  <a:pt x="88990" y="83234"/>
                </a:cubicBezTo>
                <a:lnTo>
                  <a:pt x="102991" y="107703"/>
                </a:lnTo>
                <a:lnTo>
                  <a:pt x="47793" y="107703"/>
                </a:lnTo>
                <a:lnTo>
                  <a:pt x="61795" y="83234"/>
                </a:lnTo>
                <a:cubicBezTo>
                  <a:pt x="63646" y="79970"/>
                  <a:pt x="64622" y="76301"/>
                  <a:pt x="64622" y="7253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92695" y="413580"/>
            <a:ext cx="18611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spc="54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4650" y="758230"/>
            <a:ext cx="11709490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4650" y="1206276"/>
            <a:ext cx="1160609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Data to Decision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883" y="1619856"/>
            <a:ext cx="6832690" cy="1585391"/>
          </a:xfrm>
          <a:custGeom>
            <a:avLst/>
            <a:gdLst/>
            <a:ahLst/>
            <a:cxnLst/>
            <a:rect l="l" t="t" r="r" b="b"/>
            <a:pathLst>
              <a:path w="6832690" h="1585391">
                <a:moveTo>
                  <a:pt x="34465" y="0"/>
                </a:moveTo>
                <a:lnTo>
                  <a:pt x="6729291" y="0"/>
                </a:lnTo>
                <a:cubicBezTo>
                  <a:pt x="6786396" y="0"/>
                  <a:pt x="6832690" y="46293"/>
                  <a:pt x="6832690" y="103399"/>
                </a:cubicBezTo>
                <a:lnTo>
                  <a:pt x="6832690" y="1481992"/>
                </a:lnTo>
                <a:cubicBezTo>
                  <a:pt x="6832690" y="1539097"/>
                  <a:pt x="6786396" y="1585391"/>
                  <a:pt x="6729291" y="1585391"/>
                </a:cubicBez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1883" y="1619856"/>
            <a:ext cx="34465" cy="1585391"/>
          </a:xfrm>
          <a:custGeom>
            <a:avLst/>
            <a:gdLst/>
            <a:ahLst/>
            <a:cxnLst/>
            <a:rect l="l" t="t" r="r" b="b"/>
            <a:pathLst>
              <a:path w="34465" h="1585391">
                <a:moveTo>
                  <a:pt x="34465" y="0"/>
                </a:moveTo>
                <a:lnTo>
                  <a:pt x="34465" y="0"/>
                </a:lnTo>
                <a:lnTo>
                  <a:pt x="34465" y="1585391"/>
                </a:ln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Shape 7"/>
          <p:cNvSpPr/>
          <p:nvPr/>
        </p:nvSpPr>
        <p:spPr>
          <a:xfrm>
            <a:off x="583751" y="1826646"/>
            <a:ext cx="150784" cy="172325"/>
          </a:xfrm>
          <a:custGeom>
            <a:avLst/>
            <a:gdLst/>
            <a:ahLst/>
            <a:cxnLst/>
            <a:rect l="l" t="t" r="r" b="b"/>
            <a:pathLst>
              <a:path w="150784" h="172325">
                <a:moveTo>
                  <a:pt x="150784" y="69267"/>
                </a:moveTo>
                <a:cubicBezTo>
                  <a:pt x="145803" y="72565"/>
                  <a:pt x="140081" y="75224"/>
                  <a:pt x="134124" y="77344"/>
                </a:cubicBezTo>
                <a:cubicBezTo>
                  <a:pt x="118305" y="82999"/>
                  <a:pt x="97539" y="86163"/>
                  <a:pt x="75392" y="86163"/>
                </a:cubicBezTo>
                <a:cubicBezTo>
                  <a:pt x="53246" y="86163"/>
                  <a:pt x="32446" y="82965"/>
                  <a:pt x="16660" y="77344"/>
                </a:cubicBezTo>
                <a:cubicBezTo>
                  <a:pt x="10737" y="75224"/>
                  <a:pt x="4981" y="72565"/>
                  <a:pt x="0" y="69267"/>
                </a:cubicBezTo>
                <a:lnTo>
                  <a:pt x="0" y="96933"/>
                </a:lnTo>
                <a:cubicBezTo>
                  <a:pt x="0" y="111809"/>
                  <a:pt x="33758" y="123859"/>
                  <a:pt x="75392" y="123859"/>
                </a:cubicBezTo>
                <a:cubicBezTo>
                  <a:pt x="117026" y="123859"/>
                  <a:pt x="150784" y="111809"/>
                  <a:pt x="150784" y="96933"/>
                </a:cubicBezTo>
                <a:lnTo>
                  <a:pt x="150784" y="69267"/>
                </a:lnTo>
                <a:close/>
                <a:moveTo>
                  <a:pt x="150784" y="43081"/>
                </a:moveTo>
                <a:lnTo>
                  <a:pt x="150784" y="26926"/>
                </a:lnTo>
                <a:cubicBezTo>
                  <a:pt x="150784" y="12049"/>
                  <a:pt x="117026" y="0"/>
                  <a:pt x="75392" y="0"/>
                </a:cubicBezTo>
                <a:cubicBezTo>
                  <a:pt x="33758" y="0"/>
                  <a:pt x="0" y="12049"/>
                  <a:pt x="0" y="26926"/>
                </a:cubicBezTo>
                <a:lnTo>
                  <a:pt x="0" y="43081"/>
                </a:lnTo>
                <a:cubicBezTo>
                  <a:pt x="0" y="57958"/>
                  <a:pt x="33758" y="70007"/>
                  <a:pt x="75392" y="70007"/>
                </a:cubicBezTo>
                <a:cubicBezTo>
                  <a:pt x="117026" y="70007"/>
                  <a:pt x="150784" y="57958"/>
                  <a:pt x="150784" y="43081"/>
                </a:cubicBezTo>
                <a:close/>
                <a:moveTo>
                  <a:pt x="134124" y="131196"/>
                </a:moveTo>
                <a:cubicBezTo>
                  <a:pt x="118339" y="136817"/>
                  <a:pt x="97572" y="140014"/>
                  <a:pt x="75392" y="140014"/>
                </a:cubicBezTo>
                <a:cubicBezTo>
                  <a:pt x="53212" y="140014"/>
                  <a:pt x="32446" y="136817"/>
                  <a:pt x="16660" y="131196"/>
                </a:cubicBezTo>
                <a:cubicBezTo>
                  <a:pt x="10737" y="129076"/>
                  <a:pt x="4981" y="126417"/>
                  <a:pt x="0" y="123118"/>
                </a:cubicBezTo>
                <a:lnTo>
                  <a:pt x="0" y="145399"/>
                </a:lnTo>
                <a:cubicBezTo>
                  <a:pt x="0" y="160276"/>
                  <a:pt x="33758" y="172325"/>
                  <a:pt x="75392" y="172325"/>
                </a:cubicBezTo>
                <a:cubicBezTo>
                  <a:pt x="117026" y="172325"/>
                  <a:pt x="150784" y="160276"/>
                  <a:pt x="150784" y="145399"/>
                </a:cubicBezTo>
                <a:lnTo>
                  <a:pt x="150784" y="123118"/>
                </a:lnTo>
                <a:cubicBezTo>
                  <a:pt x="145803" y="126417"/>
                  <a:pt x="140081" y="129076"/>
                  <a:pt x="134124" y="13119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766847" y="1792181"/>
            <a:ext cx="634156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1440" y="2205761"/>
            <a:ext cx="275720" cy="275720"/>
          </a:xfrm>
          <a:custGeom>
            <a:avLst/>
            <a:gdLst/>
            <a:ahLst/>
            <a:cxnLst/>
            <a:rect l="l" t="t" r="r" b="b"/>
            <a:pathLst>
              <a:path w="275720" h="275720">
                <a:moveTo>
                  <a:pt x="137860" y="0"/>
                </a:moveTo>
                <a:lnTo>
                  <a:pt x="137860" y="0"/>
                </a:lnTo>
                <a:cubicBezTo>
                  <a:pt x="213947" y="0"/>
                  <a:pt x="275720" y="61773"/>
                  <a:pt x="275720" y="137860"/>
                </a:cubicBezTo>
                <a:lnTo>
                  <a:pt x="275720" y="137860"/>
                </a:lnTo>
                <a:cubicBezTo>
                  <a:pt x="275720" y="213947"/>
                  <a:pt x="213947" y="275720"/>
                  <a:pt x="137860" y="275720"/>
                </a:cubicBezTo>
                <a:lnTo>
                  <a:pt x="137860" y="275720"/>
                </a:lnTo>
                <a:cubicBezTo>
                  <a:pt x="61773" y="275720"/>
                  <a:pt x="0" y="213947"/>
                  <a:pt x="0" y="137860"/>
                </a:cubicBezTo>
                <a:lnTo>
                  <a:pt x="0" y="137860"/>
                </a:lnTo>
                <a:cubicBezTo>
                  <a:pt x="0" y="61773"/>
                  <a:pt x="61773" y="0"/>
                  <a:pt x="1378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0737" y="2240226"/>
            <a:ext cx="31018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0555" y="2136831"/>
            <a:ext cx="204205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Resorts Analyzed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0555" y="2343621"/>
            <a:ext cx="204205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market coverage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1440" y="2688271"/>
            <a:ext cx="275720" cy="275720"/>
          </a:xfrm>
          <a:custGeom>
            <a:avLst/>
            <a:gdLst/>
            <a:ahLst/>
            <a:cxnLst/>
            <a:rect l="l" t="t" r="r" b="b"/>
            <a:pathLst>
              <a:path w="275720" h="275720">
                <a:moveTo>
                  <a:pt x="137860" y="0"/>
                </a:moveTo>
                <a:lnTo>
                  <a:pt x="137860" y="0"/>
                </a:lnTo>
                <a:cubicBezTo>
                  <a:pt x="213947" y="0"/>
                  <a:pt x="275720" y="61773"/>
                  <a:pt x="275720" y="137860"/>
                </a:cubicBezTo>
                <a:lnTo>
                  <a:pt x="275720" y="137860"/>
                </a:lnTo>
                <a:cubicBezTo>
                  <a:pt x="275720" y="213947"/>
                  <a:pt x="213947" y="275720"/>
                  <a:pt x="137860" y="275720"/>
                </a:cubicBezTo>
                <a:lnTo>
                  <a:pt x="137860" y="275720"/>
                </a:lnTo>
                <a:cubicBezTo>
                  <a:pt x="61773" y="275720"/>
                  <a:pt x="0" y="213947"/>
                  <a:pt x="0" y="137860"/>
                </a:cubicBezTo>
                <a:lnTo>
                  <a:pt x="0" y="137860"/>
                </a:lnTo>
                <a:cubicBezTo>
                  <a:pt x="0" y="61773"/>
                  <a:pt x="61773" y="0"/>
                  <a:pt x="1378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2854" y="2722736"/>
            <a:ext cx="28433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0555" y="2619341"/>
            <a:ext cx="162847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Tracked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555" y="2826131"/>
            <a:ext cx="162847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Terrain, lifts, snow, pricing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71481" y="2171296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4095503" y="2136831"/>
            <a:ext cx="2989840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wrangling:</a:t>
            </a:r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Cleaned missing values, standardized units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71481" y="2653806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4095503" y="2619341"/>
            <a:ext cx="2989840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engineering:</a:t>
            </a:r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per acre, snowmaking 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4650" y="3343107"/>
            <a:ext cx="6849922" cy="3291409"/>
          </a:xfrm>
          <a:custGeom>
            <a:avLst/>
            <a:gdLst/>
            <a:ahLst/>
            <a:cxnLst/>
            <a:rect l="l" t="t" r="r" b="b"/>
            <a:pathLst>
              <a:path w="6849922" h="3291409">
                <a:moveTo>
                  <a:pt x="103383" y="0"/>
                </a:moveTo>
                <a:lnTo>
                  <a:pt x="6746539" y="0"/>
                </a:lnTo>
                <a:cubicBezTo>
                  <a:pt x="6803636" y="0"/>
                  <a:pt x="6849922" y="46286"/>
                  <a:pt x="6849922" y="103383"/>
                </a:cubicBezTo>
                <a:lnTo>
                  <a:pt x="6849922" y="3188026"/>
                </a:lnTo>
                <a:cubicBezTo>
                  <a:pt x="6849922" y="3245123"/>
                  <a:pt x="6803636" y="3291409"/>
                  <a:pt x="6746539" y="3291409"/>
                </a:cubicBezTo>
                <a:lnTo>
                  <a:pt x="103383" y="3291409"/>
                </a:lnTo>
                <a:cubicBezTo>
                  <a:pt x="46286" y="3291409"/>
                  <a:pt x="0" y="3245123"/>
                  <a:pt x="0" y="3188026"/>
                </a:cubicBezTo>
                <a:lnTo>
                  <a:pt x="0" y="103383"/>
                </a:lnTo>
                <a:cubicBezTo>
                  <a:pt x="0" y="46286"/>
                  <a:pt x="46286" y="0"/>
                  <a:pt x="103383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8516" y="3549897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40389" y="18848"/>
                </a:moveTo>
                <a:cubicBezTo>
                  <a:pt x="40389" y="8448"/>
                  <a:pt x="48837" y="0"/>
                  <a:pt x="59237" y="0"/>
                </a:cubicBezTo>
                <a:lnTo>
                  <a:pt x="67314" y="0"/>
                </a:lnTo>
                <a:cubicBezTo>
                  <a:pt x="73272" y="0"/>
                  <a:pt x="78085" y="4813"/>
                  <a:pt x="78085" y="10770"/>
                </a:cubicBezTo>
                <a:lnTo>
                  <a:pt x="78085" y="161555"/>
                </a:lnTo>
                <a:cubicBezTo>
                  <a:pt x="78085" y="167512"/>
                  <a:pt x="73272" y="172325"/>
                  <a:pt x="67314" y="172325"/>
                </a:cubicBezTo>
                <a:lnTo>
                  <a:pt x="56544" y="172325"/>
                </a:lnTo>
                <a:cubicBezTo>
                  <a:pt x="46514" y="172325"/>
                  <a:pt x="38066" y="165459"/>
                  <a:pt x="35677" y="156170"/>
                </a:cubicBezTo>
                <a:cubicBezTo>
                  <a:pt x="35441" y="156170"/>
                  <a:pt x="35239" y="156170"/>
                  <a:pt x="35004" y="156170"/>
                </a:cubicBezTo>
                <a:cubicBezTo>
                  <a:pt x="20127" y="156170"/>
                  <a:pt x="8078" y="144120"/>
                  <a:pt x="8078" y="129244"/>
                </a:cubicBezTo>
                <a:cubicBezTo>
                  <a:pt x="8078" y="123186"/>
                  <a:pt x="10097" y="117598"/>
                  <a:pt x="13463" y="113088"/>
                </a:cubicBezTo>
                <a:cubicBezTo>
                  <a:pt x="6933" y="108174"/>
                  <a:pt x="2693" y="100366"/>
                  <a:pt x="2693" y="91548"/>
                </a:cubicBezTo>
                <a:cubicBezTo>
                  <a:pt x="2693" y="81148"/>
                  <a:pt x="8616" y="72094"/>
                  <a:pt x="17233" y="67617"/>
                </a:cubicBezTo>
                <a:cubicBezTo>
                  <a:pt x="14843" y="63579"/>
                  <a:pt x="13463" y="58867"/>
                  <a:pt x="13463" y="53852"/>
                </a:cubicBezTo>
                <a:cubicBezTo>
                  <a:pt x="13463" y="38975"/>
                  <a:pt x="25512" y="26926"/>
                  <a:pt x="40389" y="26926"/>
                </a:cubicBezTo>
                <a:lnTo>
                  <a:pt x="40389" y="18848"/>
                </a:lnTo>
                <a:close/>
                <a:moveTo>
                  <a:pt x="131936" y="18848"/>
                </a:moveTo>
                <a:lnTo>
                  <a:pt x="131936" y="26926"/>
                </a:lnTo>
                <a:cubicBezTo>
                  <a:pt x="146813" y="26926"/>
                  <a:pt x="158862" y="38975"/>
                  <a:pt x="158862" y="53852"/>
                </a:cubicBezTo>
                <a:cubicBezTo>
                  <a:pt x="158862" y="58900"/>
                  <a:pt x="157482" y="63612"/>
                  <a:pt x="155093" y="67617"/>
                </a:cubicBezTo>
                <a:cubicBezTo>
                  <a:pt x="163742" y="72094"/>
                  <a:pt x="169633" y="81114"/>
                  <a:pt x="169633" y="91548"/>
                </a:cubicBezTo>
                <a:cubicBezTo>
                  <a:pt x="169633" y="100366"/>
                  <a:pt x="165392" y="108174"/>
                  <a:pt x="158862" y="113088"/>
                </a:cubicBezTo>
                <a:cubicBezTo>
                  <a:pt x="162228" y="117598"/>
                  <a:pt x="164247" y="123186"/>
                  <a:pt x="164247" y="129244"/>
                </a:cubicBezTo>
                <a:cubicBezTo>
                  <a:pt x="164247" y="144120"/>
                  <a:pt x="152198" y="156170"/>
                  <a:pt x="137322" y="156170"/>
                </a:cubicBezTo>
                <a:cubicBezTo>
                  <a:pt x="137086" y="156170"/>
                  <a:pt x="136884" y="156170"/>
                  <a:pt x="136648" y="156170"/>
                </a:cubicBezTo>
                <a:cubicBezTo>
                  <a:pt x="134259" y="165459"/>
                  <a:pt x="125811" y="172325"/>
                  <a:pt x="115781" y="172325"/>
                </a:cubicBezTo>
                <a:lnTo>
                  <a:pt x="105011" y="172325"/>
                </a:lnTo>
                <a:cubicBezTo>
                  <a:pt x="99053" y="172325"/>
                  <a:pt x="94240" y="167512"/>
                  <a:pt x="94240" y="161555"/>
                </a:cubicBezTo>
                <a:lnTo>
                  <a:pt x="94240" y="10770"/>
                </a:lnTo>
                <a:cubicBezTo>
                  <a:pt x="94240" y="4813"/>
                  <a:pt x="99053" y="0"/>
                  <a:pt x="105011" y="0"/>
                </a:cubicBezTo>
                <a:lnTo>
                  <a:pt x="113088" y="0"/>
                </a:lnTo>
                <a:cubicBezTo>
                  <a:pt x="123488" y="0"/>
                  <a:pt x="131936" y="8448"/>
                  <a:pt x="131936" y="1884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732382" y="3515432"/>
            <a:ext cx="637602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Strategy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4208" y="3860082"/>
            <a:ext cx="6488040" cy="775463"/>
          </a:xfrm>
          <a:custGeom>
            <a:avLst/>
            <a:gdLst/>
            <a:ahLst/>
            <a:cxnLst/>
            <a:rect l="l" t="t" r="r" b="b"/>
            <a:pathLst>
              <a:path w="6488040" h="775463">
                <a:moveTo>
                  <a:pt x="34465" y="0"/>
                </a:moveTo>
                <a:lnTo>
                  <a:pt x="6419109" y="0"/>
                </a:lnTo>
                <a:cubicBezTo>
                  <a:pt x="6457178" y="0"/>
                  <a:pt x="6488040" y="30861"/>
                  <a:pt x="6488040" y="68931"/>
                </a:cubicBezTo>
                <a:lnTo>
                  <a:pt x="6488040" y="706532"/>
                </a:lnTo>
                <a:cubicBezTo>
                  <a:pt x="6488040" y="744601"/>
                  <a:pt x="6457178" y="775463"/>
                  <a:pt x="6419109" y="775463"/>
                </a:cubicBez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4208" y="3860082"/>
            <a:ext cx="34465" cy="775463"/>
          </a:xfrm>
          <a:custGeom>
            <a:avLst/>
            <a:gdLst/>
            <a:ahLst/>
            <a:cxnLst/>
            <a:rect l="l" t="t" r="r" b="b"/>
            <a:pathLst>
              <a:path w="34465" h="775463">
                <a:moveTo>
                  <a:pt x="34465" y="0"/>
                </a:moveTo>
                <a:lnTo>
                  <a:pt x="34465" y="0"/>
                </a:lnTo>
                <a:lnTo>
                  <a:pt x="34465" y="775463"/>
                </a:ln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689300" y="3997942"/>
            <a:ext cx="344650" cy="344650"/>
          </a:xfrm>
          <a:custGeom>
            <a:avLst/>
            <a:gdLst/>
            <a:ahLst/>
            <a:cxnLst/>
            <a:rect l="l" t="t" r="r" b="b"/>
            <a:pathLst>
              <a:path w="344650" h="344650">
                <a:moveTo>
                  <a:pt x="172325" y="0"/>
                </a:moveTo>
                <a:lnTo>
                  <a:pt x="172325" y="0"/>
                </a:lnTo>
                <a:cubicBezTo>
                  <a:pt x="267434" y="0"/>
                  <a:pt x="344650" y="77216"/>
                  <a:pt x="344650" y="172325"/>
                </a:cubicBezTo>
                <a:lnTo>
                  <a:pt x="344650" y="172325"/>
                </a:lnTo>
                <a:cubicBezTo>
                  <a:pt x="344650" y="267434"/>
                  <a:pt x="267434" y="344650"/>
                  <a:pt x="172325" y="344650"/>
                </a:cubicBezTo>
                <a:lnTo>
                  <a:pt x="172325" y="344650"/>
                </a:lnTo>
                <a:cubicBezTo>
                  <a:pt x="77216" y="344650"/>
                  <a:pt x="0" y="267434"/>
                  <a:pt x="0" y="172325"/>
                </a:cubicBezTo>
                <a:lnTo>
                  <a:pt x="0" y="172325"/>
                </a:lnTo>
                <a:cubicBezTo>
                  <a:pt x="0" y="77216"/>
                  <a:pt x="77216" y="0"/>
                  <a:pt x="17232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9726" y="4066872"/>
            <a:ext cx="1120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7346" y="3997942"/>
            <a:ext cx="582458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Baseline: Linear Regression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7346" y="4273662"/>
            <a:ext cx="5815972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analysis achieving R² = 0.72, establishing foundational price-feature relationships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4208" y="4773405"/>
            <a:ext cx="6488040" cy="775463"/>
          </a:xfrm>
          <a:custGeom>
            <a:avLst/>
            <a:gdLst/>
            <a:ahLst/>
            <a:cxnLst/>
            <a:rect l="l" t="t" r="r" b="b"/>
            <a:pathLst>
              <a:path w="6488040" h="775463">
                <a:moveTo>
                  <a:pt x="34465" y="0"/>
                </a:moveTo>
                <a:lnTo>
                  <a:pt x="6419109" y="0"/>
                </a:lnTo>
                <a:cubicBezTo>
                  <a:pt x="6457178" y="0"/>
                  <a:pt x="6488040" y="30861"/>
                  <a:pt x="6488040" y="68931"/>
                </a:cubicBezTo>
                <a:lnTo>
                  <a:pt x="6488040" y="706532"/>
                </a:lnTo>
                <a:cubicBezTo>
                  <a:pt x="6488040" y="744601"/>
                  <a:pt x="6457178" y="775463"/>
                  <a:pt x="6419109" y="775463"/>
                </a:cubicBez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34208" y="4773405"/>
            <a:ext cx="34465" cy="775463"/>
          </a:xfrm>
          <a:custGeom>
            <a:avLst/>
            <a:gdLst/>
            <a:ahLst/>
            <a:cxnLst/>
            <a:rect l="l" t="t" r="r" b="b"/>
            <a:pathLst>
              <a:path w="34465" h="775463">
                <a:moveTo>
                  <a:pt x="34465" y="0"/>
                </a:moveTo>
                <a:lnTo>
                  <a:pt x="34465" y="0"/>
                </a:lnTo>
                <a:lnTo>
                  <a:pt x="34465" y="775463"/>
                </a:ln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89300" y="4911265"/>
            <a:ext cx="344650" cy="344650"/>
          </a:xfrm>
          <a:custGeom>
            <a:avLst/>
            <a:gdLst/>
            <a:ahLst/>
            <a:cxnLst/>
            <a:rect l="l" t="t" r="r" b="b"/>
            <a:pathLst>
              <a:path w="344650" h="344650">
                <a:moveTo>
                  <a:pt x="172325" y="0"/>
                </a:moveTo>
                <a:lnTo>
                  <a:pt x="172325" y="0"/>
                </a:lnTo>
                <a:cubicBezTo>
                  <a:pt x="267434" y="0"/>
                  <a:pt x="344650" y="77216"/>
                  <a:pt x="344650" y="172325"/>
                </a:cubicBezTo>
                <a:lnTo>
                  <a:pt x="344650" y="172325"/>
                </a:lnTo>
                <a:cubicBezTo>
                  <a:pt x="344650" y="267434"/>
                  <a:pt x="267434" y="344650"/>
                  <a:pt x="172325" y="344650"/>
                </a:cubicBezTo>
                <a:lnTo>
                  <a:pt x="172325" y="344650"/>
                </a:lnTo>
                <a:cubicBezTo>
                  <a:pt x="77216" y="344650"/>
                  <a:pt x="0" y="267434"/>
                  <a:pt x="0" y="172325"/>
                </a:cubicBezTo>
                <a:lnTo>
                  <a:pt x="0" y="172325"/>
                </a:lnTo>
                <a:cubicBezTo>
                  <a:pt x="0" y="77216"/>
                  <a:pt x="77216" y="0"/>
                  <a:pt x="17232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6532" y="4980195"/>
            <a:ext cx="13786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7346" y="4911265"/>
            <a:ext cx="582458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Advanced: Random Forest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7346" y="5186985"/>
            <a:ext cx="5815972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Capturing non-linear interactions with R² = 0.84, superior predictive accuracy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4208" y="5686728"/>
            <a:ext cx="6488040" cy="775463"/>
          </a:xfrm>
          <a:custGeom>
            <a:avLst/>
            <a:gdLst/>
            <a:ahLst/>
            <a:cxnLst/>
            <a:rect l="l" t="t" r="r" b="b"/>
            <a:pathLst>
              <a:path w="6488040" h="775463">
                <a:moveTo>
                  <a:pt x="34465" y="0"/>
                </a:moveTo>
                <a:lnTo>
                  <a:pt x="6419109" y="0"/>
                </a:lnTo>
                <a:cubicBezTo>
                  <a:pt x="6457178" y="0"/>
                  <a:pt x="6488040" y="30861"/>
                  <a:pt x="6488040" y="68931"/>
                </a:cubicBezTo>
                <a:lnTo>
                  <a:pt x="6488040" y="706532"/>
                </a:lnTo>
                <a:cubicBezTo>
                  <a:pt x="6488040" y="744601"/>
                  <a:pt x="6457178" y="775463"/>
                  <a:pt x="6419109" y="775463"/>
                </a:cubicBez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4208" y="5686728"/>
            <a:ext cx="34465" cy="775463"/>
          </a:xfrm>
          <a:custGeom>
            <a:avLst/>
            <a:gdLst/>
            <a:ahLst/>
            <a:cxnLst/>
            <a:rect l="l" t="t" r="r" b="b"/>
            <a:pathLst>
              <a:path w="34465" h="775463">
                <a:moveTo>
                  <a:pt x="34465" y="0"/>
                </a:moveTo>
                <a:lnTo>
                  <a:pt x="34465" y="0"/>
                </a:lnTo>
                <a:lnTo>
                  <a:pt x="34465" y="775463"/>
                </a:lnTo>
                <a:lnTo>
                  <a:pt x="34465" y="775463"/>
                </a:lnTo>
                <a:cubicBezTo>
                  <a:pt x="15431" y="775463"/>
                  <a:pt x="0" y="760032"/>
                  <a:pt x="0" y="740998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9300" y="5824588"/>
            <a:ext cx="344650" cy="344650"/>
          </a:xfrm>
          <a:custGeom>
            <a:avLst/>
            <a:gdLst/>
            <a:ahLst/>
            <a:cxnLst/>
            <a:rect l="l" t="t" r="r" b="b"/>
            <a:pathLst>
              <a:path w="344650" h="344650">
                <a:moveTo>
                  <a:pt x="172325" y="0"/>
                </a:moveTo>
                <a:lnTo>
                  <a:pt x="172325" y="0"/>
                </a:lnTo>
                <a:cubicBezTo>
                  <a:pt x="267434" y="0"/>
                  <a:pt x="344650" y="77216"/>
                  <a:pt x="344650" y="172325"/>
                </a:cubicBezTo>
                <a:lnTo>
                  <a:pt x="344650" y="172325"/>
                </a:lnTo>
                <a:cubicBezTo>
                  <a:pt x="344650" y="267434"/>
                  <a:pt x="267434" y="344650"/>
                  <a:pt x="172325" y="344650"/>
                </a:cubicBezTo>
                <a:lnTo>
                  <a:pt x="172325" y="344650"/>
                </a:lnTo>
                <a:cubicBezTo>
                  <a:pt x="77216" y="344650"/>
                  <a:pt x="0" y="267434"/>
                  <a:pt x="0" y="172325"/>
                </a:cubicBezTo>
                <a:lnTo>
                  <a:pt x="0" y="172325"/>
                </a:lnTo>
                <a:cubicBezTo>
                  <a:pt x="0" y="77216"/>
                  <a:pt x="77216" y="0"/>
                  <a:pt x="17232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4737" y="5893518"/>
            <a:ext cx="146476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7346" y="5824588"/>
            <a:ext cx="582458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Validation: Cross-Validation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7346" y="6100308"/>
            <a:ext cx="5815972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Out-of-sample testing on resort clusters ensuring model robustness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9471" y="1619856"/>
            <a:ext cx="4514917" cy="3644676"/>
          </a:xfrm>
          <a:custGeom>
            <a:avLst/>
            <a:gdLst/>
            <a:ahLst/>
            <a:cxnLst/>
            <a:rect l="l" t="t" r="r" b="b"/>
            <a:pathLst>
              <a:path w="4514917" h="3644676">
                <a:moveTo>
                  <a:pt x="103399" y="0"/>
                </a:moveTo>
                <a:lnTo>
                  <a:pt x="4411518" y="0"/>
                </a:lnTo>
                <a:cubicBezTo>
                  <a:pt x="4468624" y="0"/>
                  <a:pt x="4514917" y="46294"/>
                  <a:pt x="4514917" y="103399"/>
                </a:cubicBezTo>
                <a:lnTo>
                  <a:pt x="4514917" y="3541276"/>
                </a:lnTo>
                <a:cubicBezTo>
                  <a:pt x="4514917" y="3598382"/>
                  <a:pt x="4468624" y="3644676"/>
                  <a:pt x="4411518" y="3644676"/>
                </a:cubicBezTo>
                <a:lnTo>
                  <a:pt x="103399" y="3644676"/>
                </a:lnTo>
                <a:cubicBezTo>
                  <a:pt x="46294" y="3644676"/>
                  <a:pt x="0" y="3598382"/>
                  <a:pt x="0" y="3541276"/>
                </a:cubicBezTo>
                <a:lnTo>
                  <a:pt x="0" y="103399"/>
                </a:lnTo>
                <a:cubicBezTo>
                  <a:pt x="0" y="46294"/>
                  <a:pt x="46294" y="0"/>
                  <a:pt x="10339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01796" y="1792181"/>
            <a:ext cx="4256430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Insights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1796" y="2136831"/>
            <a:ext cx="423919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correlates strongest with: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01796" y="2737457"/>
            <a:ext cx="4170267" cy="620370"/>
          </a:xfrm>
          <a:custGeom>
            <a:avLst/>
            <a:gdLst/>
            <a:ahLst/>
            <a:cxnLst/>
            <a:rect l="l" t="t" r="r" b="b"/>
            <a:pathLst>
              <a:path w="4170267" h="620370">
                <a:moveTo>
                  <a:pt x="68929" y="0"/>
                </a:moveTo>
                <a:lnTo>
                  <a:pt x="4101338" y="0"/>
                </a:lnTo>
                <a:cubicBezTo>
                  <a:pt x="4139406" y="0"/>
                  <a:pt x="4170267" y="30861"/>
                  <a:pt x="4170267" y="68929"/>
                </a:cubicBezTo>
                <a:lnTo>
                  <a:pt x="4170267" y="551441"/>
                </a:lnTo>
                <a:cubicBezTo>
                  <a:pt x="4170267" y="589510"/>
                  <a:pt x="4139406" y="620370"/>
                  <a:pt x="4101338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639656" y="2892550"/>
            <a:ext cx="86162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Drop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51962" y="2875317"/>
            <a:ext cx="56867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r=0.65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639656" y="3151037"/>
            <a:ext cx="3894547" cy="68930"/>
          </a:xfrm>
          <a:custGeom>
            <a:avLst/>
            <a:gdLst/>
            <a:ahLst/>
            <a:cxnLst/>
            <a:rect l="l" t="t" r="r" b="b"/>
            <a:pathLst>
              <a:path w="3894547" h="68930">
                <a:moveTo>
                  <a:pt x="34465" y="0"/>
                </a:moveTo>
                <a:lnTo>
                  <a:pt x="3860082" y="0"/>
                </a:lnTo>
                <a:cubicBezTo>
                  <a:pt x="3879116" y="0"/>
                  <a:pt x="3894547" y="15431"/>
                  <a:pt x="3894547" y="34465"/>
                </a:cubicBezTo>
                <a:lnTo>
                  <a:pt x="3894547" y="34465"/>
                </a:lnTo>
                <a:cubicBezTo>
                  <a:pt x="3894547" y="53500"/>
                  <a:pt x="3879116" y="68930"/>
                  <a:pt x="3860082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1" name="Shape 49"/>
          <p:cNvSpPr/>
          <p:nvPr/>
        </p:nvSpPr>
        <p:spPr>
          <a:xfrm>
            <a:off x="7639656" y="3151037"/>
            <a:ext cx="2533179" cy="68930"/>
          </a:xfrm>
          <a:custGeom>
            <a:avLst/>
            <a:gdLst/>
            <a:ahLst/>
            <a:cxnLst/>
            <a:rect l="l" t="t" r="r" b="b"/>
            <a:pathLst>
              <a:path w="2533179" h="68930">
                <a:moveTo>
                  <a:pt x="34465" y="0"/>
                </a:moveTo>
                <a:lnTo>
                  <a:pt x="2498714" y="0"/>
                </a:lnTo>
                <a:cubicBezTo>
                  <a:pt x="2517748" y="0"/>
                  <a:pt x="2533179" y="15431"/>
                  <a:pt x="2533179" y="34465"/>
                </a:cubicBezTo>
                <a:lnTo>
                  <a:pt x="2533179" y="34465"/>
                </a:lnTo>
                <a:cubicBezTo>
                  <a:pt x="2533179" y="53500"/>
                  <a:pt x="2517748" y="68930"/>
                  <a:pt x="2498714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2" name="Shape 50"/>
          <p:cNvSpPr/>
          <p:nvPr/>
        </p:nvSpPr>
        <p:spPr>
          <a:xfrm>
            <a:off x="7501796" y="3461223"/>
            <a:ext cx="4170267" cy="620370"/>
          </a:xfrm>
          <a:custGeom>
            <a:avLst/>
            <a:gdLst/>
            <a:ahLst/>
            <a:cxnLst/>
            <a:rect l="l" t="t" r="r" b="b"/>
            <a:pathLst>
              <a:path w="4170267" h="620370">
                <a:moveTo>
                  <a:pt x="68929" y="0"/>
                </a:moveTo>
                <a:lnTo>
                  <a:pt x="4101338" y="0"/>
                </a:lnTo>
                <a:cubicBezTo>
                  <a:pt x="4139406" y="0"/>
                  <a:pt x="4170267" y="30861"/>
                  <a:pt x="4170267" y="68929"/>
                </a:cubicBezTo>
                <a:lnTo>
                  <a:pt x="4170267" y="551441"/>
                </a:lnTo>
                <a:cubicBezTo>
                  <a:pt x="4170267" y="589510"/>
                  <a:pt x="4139406" y="620370"/>
                  <a:pt x="4101338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39656" y="3616315"/>
            <a:ext cx="73238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Quads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050795" y="3599083"/>
            <a:ext cx="57728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r=0.58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39656" y="3874803"/>
            <a:ext cx="3894547" cy="68930"/>
          </a:xfrm>
          <a:custGeom>
            <a:avLst/>
            <a:gdLst/>
            <a:ahLst/>
            <a:cxnLst/>
            <a:rect l="l" t="t" r="r" b="b"/>
            <a:pathLst>
              <a:path w="3894547" h="68930">
                <a:moveTo>
                  <a:pt x="34465" y="0"/>
                </a:moveTo>
                <a:lnTo>
                  <a:pt x="3860082" y="0"/>
                </a:lnTo>
                <a:cubicBezTo>
                  <a:pt x="3879116" y="0"/>
                  <a:pt x="3894547" y="15431"/>
                  <a:pt x="3894547" y="34465"/>
                </a:cubicBezTo>
                <a:lnTo>
                  <a:pt x="3894547" y="34465"/>
                </a:lnTo>
                <a:cubicBezTo>
                  <a:pt x="3894547" y="53500"/>
                  <a:pt x="3879116" y="68930"/>
                  <a:pt x="3860082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6" name="Shape 54"/>
          <p:cNvSpPr/>
          <p:nvPr/>
        </p:nvSpPr>
        <p:spPr>
          <a:xfrm>
            <a:off x="7639656" y="3874803"/>
            <a:ext cx="2257459" cy="68930"/>
          </a:xfrm>
          <a:custGeom>
            <a:avLst/>
            <a:gdLst/>
            <a:ahLst/>
            <a:cxnLst/>
            <a:rect l="l" t="t" r="r" b="b"/>
            <a:pathLst>
              <a:path w="2257459" h="68930">
                <a:moveTo>
                  <a:pt x="34465" y="0"/>
                </a:moveTo>
                <a:lnTo>
                  <a:pt x="2222994" y="0"/>
                </a:lnTo>
                <a:cubicBezTo>
                  <a:pt x="2242028" y="0"/>
                  <a:pt x="2257459" y="15431"/>
                  <a:pt x="2257459" y="34465"/>
                </a:cubicBezTo>
                <a:lnTo>
                  <a:pt x="2257459" y="34465"/>
                </a:lnTo>
                <a:cubicBezTo>
                  <a:pt x="2257459" y="53500"/>
                  <a:pt x="2242028" y="68930"/>
                  <a:pt x="2222994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7" name="Shape 55"/>
          <p:cNvSpPr/>
          <p:nvPr/>
        </p:nvSpPr>
        <p:spPr>
          <a:xfrm>
            <a:off x="7501796" y="4184988"/>
            <a:ext cx="4170267" cy="620370"/>
          </a:xfrm>
          <a:custGeom>
            <a:avLst/>
            <a:gdLst/>
            <a:ahLst/>
            <a:cxnLst/>
            <a:rect l="l" t="t" r="r" b="b"/>
            <a:pathLst>
              <a:path w="4170267" h="620370">
                <a:moveTo>
                  <a:pt x="68929" y="0"/>
                </a:moveTo>
                <a:lnTo>
                  <a:pt x="4101338" y="0"/>
                </a:lnTo>
                <a:cubicBezTo>
                  <a:pt x="4139406" y="0"/>
                  <a:pt x="4170267" y="30861"/>
                  <a:pt x="4170267" y="68929"/>
                </a:cubicBezTo>
                <a:lnTo>
                  <a:pt x="4170267" y="551441"/>
                </a:lnTo>
                <a:cubicBezTo>
                  <a:pt x="4170267" y="589510"/>
                  <a:pt x="4139406" y="620370"/>
                  <a:pt x="4101338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639656" y="4340081"/>
            <a:ext cx="92193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Elevation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59232" y="4322848"/>
            <a:ext cx="568673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r=0.52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639656" y="4598568"/>
            <a:ext cx="3894547" cy="68930"/>
          </a:xfrm>
          <a:custGeom>
            <a:avLst/>
            <a:gdLst/>
            <a:ahLst/>
            <a:cxnLst/>
            <a:rect l="l" t="t" r="r" b="b"/>
            <a:pathLst>
              <a:path w="3894547" h="68930">
                <a:moveTo>
                  <a:pt x="34465" y="0"/>
                </a:moveTo>
                <a:lnTo>
                  <a:pt x="3860082" y="0"/>
                </a:lnTo>
                <a:cubicBezTo>
                  <a:pt x="3879116" y="0"/>
                  <a:pt x="3894547" y="15431"/>
                  <a:pt x="3894547" y="34465"/>
                </a:cubicBezTo>
                <a:lnTo>
                  <a:pt x="3894547" y="34465"/>
                </a:lnTo>
                <a:cubicBezTo>
                  <a:pt x="3894547" y="53500"/>
                  <a:pt x="3879116" y="68930"/>
                  <a:pt x="3860082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1" name="Shape 59"/>
          <p:cNvSpPr/>
          <p:nvPr/>
        </p:nvSpPr>
        <p:spPr>
          <a:xfrm>
            <a:off x="7639656" y="4598568"/>
            <a:ext cx="2024820" cy="68930"/>
          </a:xfrm>
          <a:custGeom>
            <a:avLst/>
            <a:gdLst/>
            <a:ahLst/>
            <a:cxnLst/>
            <a:rect l="l" t="t" r="r" b="b"/>
            <a:pathLst>
              <a:path w="2024820" h="68930">
                <a:moveTo>
                  <a:pt x="34465" y="0"/>
                </a:moveTo>
                <a:lnTo>
                  <a:pt x="1990355" y="0"/>
                </a:lnTo>
                <a:cubicBezTo>
                  <a:pt x="2009389" y="0"/>
                  <a:pt x="2024820" y="15431"/>
                  <a:pt x="2024820" y="34465"/>
                </a:cubicBezTo>
                <a:lnTo>
                  <a:pt x="2024820" y="34465"/>
                </a:lnTo>
                <a:cubicBezTo>
                  <a:pt x="2024820" y="53500"/>
                  <a:pt x="2009389" y="68930"/>
                  <a:pt x="1990355" y="68930"/>
                </a:cubicBezTo>
                <a:lnTo>
                  <a:pt x="34465" y="68930"/>
                </a:lnTo>
                <a:cubicBezTo>
                  <a:pt x="15443" y="68930"/>
                  <a:pt x="0" y="53487"/>
                  <a:pt x="0" y="3446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2" name="Shape 60"/>
          <p:cNvSpPr/>
          <p:nvPr/>
        </p:nvSpPr>
        <p:spPr>
          <a:xfrm>
            <a:off x="7332343" y="5408854"/>
            <a:ext cx="4512045" cy="1220636"/>
          </a:xfrm>
          <a:custGeom>
            <a:avLst/>
            <a:gdLst/>
            <a:ahLst/>
            <a:cxnLst/>
            <a:rect l="l" t="t" r="r" b="b"/>
            <a:pathLst>
              <a:path w="4512045" h="1220636">
                <a:moveTo>
                  <a:pt x="103400" y="0"/>
                </a:moveTo>
                <a:lnTo>
                  <a:pt x="4408645" y="0"/>
                </a:lnTo>
                <a:cubicBezTo>
                  <a:pt x="4465751" y="0"/>
                  <a:pt x="4512045" y="46294"/>
                  <a:pt x="4512045" y="103400"/>
                </a:cubicBezTo>
                <a:lnTo>
                  <a:pt x="4512045" y="1117236"/>
                </a:lnTo>
                <a:cubicBezTo>
                  <a:pt x="4512045" y="1174342"/>
                  <a:pt x="4465751" y="1220636"/>
                  <a:pt x="4408645" y="1220636"/>
                </a:cubicBezTo>
                <a:lnTo>
                  <a:pt x="103400" y="1220636"/>
                </a:lnTo>
                <a:cubicBezTo>
                  <a:pt x="46294" y="1220636"/>
                  <a:pt x="0" y="1174342"/>
                  <a:pt x="0" y="1117236"/>
                </a:cubicBezTo>
                <a:lnTo>
                  <a:pt x="0" y="103400"/>
                </a:lnTo>
                <a:cubicBezTo>
                  <a:pt x="0" y="46332"/>
                  <a:pt x="46332" y="0"/>
                  <a:pt x="103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59238" y="5601285"/>
            <a:ext cx="155093" cy="206790"/>
          </a:xfrm>
          <a:custGeom>
            <a:avLst/>
            <a:gdLst/>
            <a:ahLst/>
            <a:cxnLst/>
            <a:rect l="l" t="t" r="r" b="b"/>
            <a:pathLst>
              <a:path w="155093" h="206790">
                <a:moveTo>
                  <a:pt x="118298" y="155093"/>
                </a:moveTo>
                <a:cubicBezTo>
                  <a:pt x="121247" y="146086"/>
                  <a:pt x="127144" y="137927"/>
                  <a:pt x="133808" y="130900"/>
                </a:cubicBezTo>
                <a:cubicBezTo>
                  <a:pt x="147015" y="117006"/>
                  <a:pt x="155093" y="98225"/>
                  <a:pt x="155093" y="77546"/>
                </a:cubicBezTo>
                <a:cubicBezTo>
                  <a:pt x="155093" y="34734"/>
                  <a:pt x="120358" y="0"/>
                  <a:pt x="77546" y="0"/>
                </a:cubicBezTo>
                <a:cubicBezTo>
                  <a:pt x="34734" y="0"/>
                  <a:pt x="0" y="34734"/>
                  <a:pt x="0" y="77546"/>
                </a:cubicBezTo>
                <a:cubicBezTo>
                  <a:pt x="0" y="98225"/>
                  <a:pt x="8078" y="117006"/>
                  <a:pt x="21285" y="130900"/>
                </a:cubicBezTo>
                <a:cubicBezTo>
                  <a:pt x="27949" y="137927"/>
                  <a:pt x="33886" y="146086"/>
                  <a:pt x="36794" y="155093"/>
                </a:cubicBezTo>
                <a:lnTo>
                  <a:pt x="118258" y="155093"/>
                </a:lnTo>
                <a:close/>
                <a:moveTo>
                  <a:pt x="116319" y="174479"/>
                </a:moveTo>
                <a:lnTo>
                  <a:pt x="38773" y="174479"/>
                </a:lnTo>
                <a:lnTo>
                  <a:pt x="38773" y="180941"/>
                </a:lnTo>
                <a:cubicBezTo>
                  <a:pt x="38773" y="198793"/>
                  <a:pt x="53232" y="213252"/>
                  <a:pt x="71084" y="213252"/>
                </a:cubicBezTo>
                <a:lnTo>
                  <a:pt x="84008" y="213252"/>
                </a:lnTo>
                <a:cubicBezTo>
                  <a:pt x="101860" y="213252"/>
                  <a:pt x="116319" y="198793"/>
                  <a:pt x="116319" y="180941"/>
                </a:cubicBezTo>
                <a:lnTo>
                  <a:pt x="116319" y="174479"/>
                </a:lnTo>
                <a:close/>
                <a:moveTo>
                  <a:pt x="74315" y="45235"/>
                </a:moveTo>
                <a:cubicBezTo>
                  <a:pt x="58240" y="45235"/>
                  <a:pt x="45235" y="58240"/>
                  <a:pt x="45235" y="74315"/>
                </a:cubicBezTo>
                <a:cubicBezTo>
                  <a:pt x="45235" y="79687"/>
                  <a:pt x="40914" y="84008"/>
                  <a:pt x="35542" y="84008"/>
                </a:cubicBezTo>
                <a:cubicBezTo>
                  <a:pt x="30170" y="84008"/>
                  <a:pt x="25849" y="79687"/>
                  <a:pt x="25849" y="74315"/>
                </a:cubicBezTo>
                <a:cubicBezTo>
                  <a:pt x="25849" y="47537"/>
                  <a:pt x="47537" y="25849"/>
                  <a:pt x="74315" y="25849"/>
                </a:cubicBezTo>
                <a:cubicBezTo>
                  <a:pt x="79687" y="25849"/>
                  <a:pt x="84008" y="30170"/>
                  <a:pt x="84008" y="35542"/>
                </a:cubicBezTo>
                <a:cubicBezTo>
                  <a:pt x="84008" y="40914"/>
                  <a:pt x="79687" y="45235"/>
                  <a:pt x="74315" y="4523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4" name="Text 62"/>
          <p:cNvSpPr/>
          <p:nvPr/>
        </p:nvSpPr>
        <p:spPr>
          <a:xfrm>
            <a:off x="7869423" y="5584052"/>
            <a:ext cx="92193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507540" y="5928702"/>
            <a:ext cx="4239197" cy="249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drop alone</a:t>
            </a:r>
            <a:pPr>
              <a:lnSpc>
                <a:spcPct val="140000"/>
              </a:lnSpc>
            </a:pPr>
            <a:r>
              <a:rPr lang="en-US" sz="122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explains $15-20 of ticket price variance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507540" y="6249658"/>
            <a:ext cx="423058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additional 100ft = ~$2.50 premium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6875" y="396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81000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30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Model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270000"/>
            <a:ext cx="5683250" cy="3246438"/>
          </a:xfrm>
          <a:custGeom>
            <a:avLst/>
            <a:gdLst/>
            <a:ahLst/>
            <a:cxnLst/>
            <a:rect l="l" t="t" r="r" b="b"/>
            <a:pathLst>
              <a:path w="5683250" h="3246438">
                <a:moveTo>
                  <a:pt x="95250" y="0"/>
                </a:moveTo>
                <a:lnTo>
                  <a:pt x="5588000" y="0"/>
                </a:lnTo>
                <a:cubicBezTo>
                  <a:pt x="5640605" y="0"/>
                  <a:pt x="5683250" y="42645"/>
                  <a:pt x="5683250" y="95250"/>
                </a:cubicBezTo>
                <a:lnTo>
                  <a:pt x="5683250" y="3151187"/>
                </a:lnTo>
                <a:cubicBezTo>
                  <a:pt x="5683250" y="3203792"/>
                  <a:pt x="5640605" y="3246438"/>
                  <a:pt x="5588000" y="3246438"/>
                </a:cubicBezTo>
                <a:lnTo>
                  <a:pt x="95250" y="3246438"/>
                </a:lnTo>
                <a:cubicBezTo>
                  <a:pt x="42645" y="3246438"/>
                  <a:pt x="0" y="3203792"/>
                  <a:pt x="0" y="3151187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460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Accuracy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938" y="1881187"/>
            <a:ext cx="2571750" cy="1190625"/>
          </a:xfrm>
          <a:custGeom>
            <a:avLst/>
            <a:gdLst/>
            <a:ahLst/>
            <a:cxnLst/>
            <a:rect l="l" t="t" r="r" b="b"/>
            <a:pathLst>
              <a:path w="2571750" h="1190625">
                <a:moveTo>
                  <a:pt x="63496" y="0"/>
                </a:moveTo>
                <a:lnTo>
                  <a:pt x="2508254" y="0"/>
                </a:lnTo>
                <a:cubicBezTo>
                  <a:pt x="2543322" y="0"/>
                  <a:pt x="2571750" y="28428"/>
                  <a:pt x="2571750" y="63496"/>
                </a:cubicBezTo>
                <a:lnTo>
                  <a:pt x="2571750" y="1127129"/>
                </a:lnTo>
                <a:cubicBezTo>
                  <a:pt x="2571750" y="1162197"/>
                  <a:pt x="2543322" y="1190625"/>
                  <a:pt x="2508254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25400">
            <a:solidFill>
              <a:srgbClr val="38B2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" y="2047875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R² Score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375" y="2301875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875" y="2714625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84% variance explained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2625" y="1873250"/>
            <a:ext cx="2587625" cy="1206500"/>
          </a:xfrm>
          <a:custGeom>
            <a:avLst/>
            <a:gdLst/>
            <a:ahLst/>
            <a:cxnLst/>
            <a:rect l="l" t="t" r="r" b="b"/>
            <a:pathLst>
              <a:path w="2587625" h="1206500">
                <a:moveTo>
                  <a:pt x="63498" y="0"/>
                </a:moveTo>
                <a:lnTo>
                  <a:pt x="2524127" y="0"/>
                </a:lnTo>
                <a:cubicBezTo>
                  <a:pt x="2559196" y="0"/>
                  <a:pt x="2587625" y="28429"/>
                  <a:pt x="2587625" y="63498"/>
                </a:cubicBezTo>
                <a:lnTo>
                  <a:pt x="2587625" y="1143002"/>
                </a:lnTo>
                <a:cubicBezTo>
                  <a:pt x="2587625" y="1178071"/>
                  <a:pt x="2559196" y="1206500"/>
                  <a:pt x="2524127" y="1206500"/>
                </a:cubicBezTo>
                <a:lnTo>
                  <a:pt x="63498" y="1206500"/>
                </a:lnTo>
                <a:cubicBezTo>
                  <a:pt x="28429" y="1206500"/>
                  <a:pt x="0" y="1178071"/>
                  <a:pt x="0" y="114300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49625" y="203200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Error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86125" y="2286000"/>
            <a:ext cx="246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$8.50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9625" y="269875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646" y="3241146"/>
            <a:ext cx="5299604" cy="1084792"/>
          </a:xfrm>
          <a:custGeom>
            <a:avLst/>
            <a:gdLst/>
            <a:ahLst/>
            <a:cxnLst/>
            <a:rect l="l" t="t" r="r" b="b"/>
            <a:pathLst>
              <a:path w="5299604" h="1084792">
                <a:moveTo>
                  <a:pt x="63504" y="0"/>
                </a:moveTo>
                <a:lnTo>
                  <a:pt x="5236100" y="0"/>
                </a:lnTo>
                <a:cubicBezTo>
                  <a:pt x="5271173" y="0"/>
                  <a:pt x="5299604" y="28432"/>
                  <a:pt x="5299604" y="63504"/>
                </a:cubicBezTo>
                <a:lnTo>
                  <a:pt x="5299604" y="1021288"/>
                </a:lnTo>
                <a:cubicBezTo>
                  <a:pt x="5299604" y="1056360"/>
                  <a:pt x="5271173" y="1084792"/>
                  <a:pt x="5236100" y="1084792"/>
                </a:cubicBezTo>
                <a:lnTo>
                  <a:pt x="63504" y="1084792"/>
                </a:lnTo>
                <a:cubicBezTo>
                  <a:pt x="28432" y="1084792"/>
                  <a:pt x="0" y="1056360"/>
                  <a:pt x="0" y="102128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42" y="3402544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 Predicted Price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42" y="3624794"/>
            <a:ext cx="1706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42" y="3974044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ticket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4687" y="3402544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Price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85312" y="3624794"/>
            <a:ext cx="1063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4687" y="3974044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+$16 opportunity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500" y="4677835"/>
            <a:ext cx="5683250" cy="2381250"/>
          </a:xfrm>
          <a:custGeom>
            <a:avLst/>
            <a:gdLst/>
            <a:ahLst/>
            <a:cxnLst/>
            <a:rect l="l" t="t" r="r" b="b"/>
            <a:pathLst>
              <a:path w="5683250" h="2381250">
                <a:moveTo>
                  <a:pt x="95250" y="0"/>
                </a:moveTo>
                <a:lnTo>
                  <a:pt x="5588000" y="0"/>
                </a:lnTo>
                <a:cubicBezTo>
                  <a:pt x="5640570" y="0"/>
                  <a:pt x="5683250" y="42680"/>
                  <a:pt x="5683250" y="95250"/>
                </a:cubicBezTo>
                <a:lnTo>
                  <a:pt x="5683250" y="2286000"/>
                </a:lnTo>
                <a:cubicBezTo>
                  <a:pt x="5683250" y="2338570"/>
                  <a:pt x="5640570" y="2381250"/>
                  <a:pt x="5588000" y="2381250"/>
                </a:cubicBezTo>
                <a:lnTo>
                  <a:pt x="95250" y="2381250"/>
                </a:lnTo>
                <a:cubicBezTo>
                  <a:pt x="42680" y="2381250"/>
                  <a:pt x="0" y="2338570"/>
                  <a:pt x="0" y="2286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8000" y="4868335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000" y="5217585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 competes in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"Premium Family"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tier: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5535085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31749" y="0"/>
                </a:moveTo>
                <a:lnTo>
                  <a:pt x="5270501" y="0"/>
                </a:lnTo>
                <a:cubicBezTo>
                  <a:pt x="5288036" y="0"/>
                  <a:pt x="5302250" y="14214"/>
                  <a:pt x="5302250" y="31749"/>
                </a:cubicBezTo>
                <a:lnTo>
                  <a:pt x="5302250" y="349251"/>
                </a:lnTo>
                <a:cubicBezTo>
                  <a:pt x="5302250" y="366786"/>
                  <a:pt x="5288036" y="381000"/>
                  <a:pt x="5270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3250" y="5630335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Comparable Resorts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0159" y="5630335"/>
            <a:ext cx="143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Steamboat, Breckenridge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6011335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31749" y="0"/>
                </a:moveTo>
                <a:lnTo>
                  <a:pt x="5270501" y="0"/>
                </a:lnTo>
                <a:cubicBezTo>
                  <a:pt x="5288036" y="0"/>
                  <a:pt x="5302250" y="14214"/>
                  <a:pt x="5302250" y="31749"/>
                </a:cubicBezTo>
                <a:lnTo>
                  <a:pt x="5302250" y="349251"/>
                </a:lnTo>
                <a:cubicBezTo>
                  <a:pt x="5302250" y="366786"/>
                  <a:pt x="5288036" y="381000"/>
                  <a:pt x="5270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3250" y="6106585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Price Range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4722" y="6106585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$95-110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" y="6487585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31749" y="0"/>
                </a:moveTo>
                <a:lnTo>
                  <a:pt x="5270501" y="0"/>
                </a:lnTo>
                <a:cubicBezTo>
                  <a:pt x="5288036" y="0"/>
                  <a:pt x="5302250" y="14214"/>
                  <a:pt x="5302250" y="31749"/>
                </a:cubicBezTo>
                <a:lnTo>
                  <a:pt x="5302250" y="349251"/>
                </a:lnTo>
                <a:cubicBezTo>
                  <a:pt x="5302250" y="366786"/>
                  <a:pt x="5288036" y="381000"/>
                  <a:pt x="5270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03250" y="658283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 Position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07525" y="6582835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average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1270000"/>
            <a:ext cx="5683250" cy="5786438"/>
          </a:xfrm>
          <a:custGeom>
            <a:avLst/>
            <a:gdLst/>
            <a:ahLst/>
            <a:cxnLst/>
            <a:rect l="l" t="t" r="r" b="b"/>
            <a:pathLst>
              <a:path w="5683250" h="5786438">
                <a:moveTo>
                  <a:pt x="95251" y="0"/>
                </a:moveTo>
                <a:lnTo>
                  <a:pt x="5587999" y="0"/>
                </a:lnTo>
                <a:cubicBezTo>
                  <a:pt x="5640605" y="0"/>
                  <a:pt x="5683250" y="42645"/>
                  <a:pt x="5683250" y="95251"/>
                </a:cubicBezTo>
                <a:lnTo>
                  <a:pt x="5683250" y="5691186"/>
                </a:lnTo>
                <a:cubicBezTo>
                  <a:pt x="5683250" y="5743792"/>
                  <a:pt x="5640605" y="5786438"/>
                  <a:pt x="5587999" y="5786438"/>
                </a:cubicBezTo>
                <a:lnTo>
                  <a:pt x="95251" y="5786438"/>
                </a:lnTo>
                <a:cubicBezTo>
                  <a:pt x="42645" y="5786438"/>
                  <a:pt x="0" y="5743792"/>
                  <a:pt x="0" y="5691186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81750" y="1460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1750" y="1873250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drives market prices: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2206625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Drop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87915" y="2190750"/>
            <a:ext cx="37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1750" y="2476500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81750" y="2476500"/>
            <a:ext cx="1325563" cy="95250"/>
          </a:xfrm>
          <a:custGeom>
            <a:avLst/>
            <a:gdLst/>
            <a:ahLst/>
            <a:cxnLst/>
            <a:rect l="l" t="t" r="r" b="b"/>
            <a:pathLst>
              <a:path w="1325563" h="95250">
                <a:moveTo>
                  <a:pt x="47625" y="0"/>
                </a:moveTo>
                <a:lnTo>
                  <a:pt x="1277938" y="0"/>
                </a:lnTo>
                <a:cubicBezTo>
                  <a:pt x="1304222" y="0"/>
                  <a:pt x="1325563" y="21340"/>
                  <a:pt x="1325563" y="47625"/>
                </a:cubicBezTo>
                <a:lnTo>
                  <a:pt x="1325563" y="47625"/>
                </a:lnTo>
                <a:cubicBezTo>
                  <a:pt x="1325563" y="73910"/>
                  <a:pt x="1304222" y="95250"/>
                  <a:pt x="1277938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6381750" y="2603500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2,353 ft 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293687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Quads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415201" y="2921000"/>
            <a:ext cx="34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3206750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81750" y="3206750"/>
            <a:ext cx="952500" cy="95250"/>
          </a:xfrm>
          <a:custGeom>
            <a:avLst/>
            <a:gdLst/>
            <a:ahLst/>
            <a:cxnLst/>
            <a:rect l="l" t="t" r="r" b="b"/>
            <a:pathLst>
              <a:path w="952500" h="95250">
                <a:moveTo>
                  <a:pt x="47625" y="0"/>
                </a:moveTo>
                <a:lnTo>
                  <a:pt x="904875" y="0"/>
                </a:lnTo>
                <a:cubicBezTo>
                  <a:pt x="931160" y="0"/>
                  <a:pt x="952500" y="21340"/>
                  <a:pt x="952500" y="47625"/>
                </a:cubicBezTo>
                <a:lnTo>
                  <a:pt x="952500" y="47625"/>
                </a:lnTo>
                <a:cubicBezTo>
                  <a:pt x="952500" y="73910"/>
                  <a:pt x="931160" y="95250"/>
                  <a:pt x="904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7" name="Text 45"/>
          <p:cNvSpPr/>
          <p:nvPr/>
        </p:nvSpPr>
        <p:spPr>
          <a:xfrm>
            <a:off x="6381750" y="3333750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lifts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750" y="3667125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Snowmaking Coverage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18342" y="3651250"/>
            <a:ext cx="34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1750" y="3937000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81750" y="3937000"/>
            <a:ext cx="793750" cy="95250"/>
          </a:xfrm>
          <a:custGeom>
            <a:avLst/>
            <a:gdLst/>
            <a:ahLst/>
            <a:cxnLst/>
            <a:rect l="l" t="t" r="r" b="b"/>
            <a:pathLst>
              <a:path w="793750" h="95250">
                <a:moveTo>
                  <a:pt x="47625" y="0"/>
                </a:moveTo>
                <a:lnTo>
                  <a:pt x="746125" y="0"/>
                </a:lnTo>
                <a:cubicBezTo>
                  <a:pt x="772410" y="0"/>
                  <a:pt x="793750" y="21340"/>
                  <a:pt x="793750" y="47625"/>
                </a:cubicBezTo>
                <a:lnTo>
                  <a:pt x="793750" y="47625"/>
                </a:lnTo>
                <a:cubicBezTo>
                  <a:pt x="793750" y="73910"/>
                  <a:pt x="772410" y="95250"/>
                  <a:pt x="7461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2" name="Text 50"/>
          <p:cNvSpPr/>
          <p:nvPr/>
        </p:nvSpPr>
        <p:spPr>
          <a:xfrm>
            <a:off x="6381750" y="4064000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Mountain: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750" y="4397375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Chairs / Terrain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22972" y="4381500"/>
            <a:ext cx="341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81750" y="4667250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81750" y="4667250"/>
            <a:ext cx="635000" cy="95250"/>
          </a:xfrm>
          <a:custGeom>
            <a:avLst/>
            <a:gdLst/>
            <a:ahLst/>
            <a:cxnLst/>
            <a:rect l="l" t="t" r="r" b="b"/>
            <a:pathLst>
              <a:path w="635000" h="95250">
                <a:moveTo>
                  <a:pt x="47625" y="0"/>
                </a:moveTo>
                <a:lnTo>
                  <a:pt x="587375" y="0"/>
                </a:lnTo>
                <a:cubicBezTo>
                  <a:pt x="613660" y="0"/>
                  <a:pt x="635000" y="21340"/>
                  <a:pt x="635000" y="47625"/>
                </a:cubicBezTo>
                <a:lnTo>
                  <a:pt x="635000" y="47625"/>
                </a:lnTo>
                <a:cubicBezTo>
                  <a:pt x="635000" y="73910"/>
                  <a:pt x="613660" y="95250"/>
                  <a:pt x="5873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7" name="Text 55"/>
          <p:cNvSpPr/>
          <p:nvPr/>
        </p:nvSpPr>
        <p:spPr>
          <a:xfrm>
            <a:off x="6381750" y="4905375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Features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66170" y="4889500"/>
            <a:ext cx="39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81750" y="5175250"/>
            <a:ext cx="5302250" cy="95250"/>
          </a:xfrm>
          <a:custGeom>
            <a:avLst/>
            <a:gdLst/>
            <a:ahLst/>
            <a:cxnLst/>
            <a:rect l="l" t="t" r="r" b="b"/>
            <a:pathLst>
              <a:path w="5302250" h="95250">
                <a:moveTo>
                  <a:pt x="47625" y="0"/>
                </a:moveTo>
                <a:lnTo>
                  <a:pt x="5254625" y="0"/>
                </a:lnTo>
                <a:cubicBezTo>
                  <a:pt x="5280910" y="0"/>
                  <a:pt x="5302250" y="21340"/>
                  <a:pt x="5302250" y="47625"/>
                </a:cubicBezTo>
                <a:lnTo>
                  <a:pt x="5302250" y="47625"/>
                </a:lnTo>
                <a:cubicBezTo>
                  <a:pt x="5302250" y="73910"/>
                  <a:pt x="5280910" y="95250"/>
                  <a:pt x="5254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81750" y="5175250"/>
            <a:ext cx="1587500" cy="95250"/>
          </a:xfrm>
          <a:custGeom>
            <a:avLst/>
            <a:gdLst/>
            <a:ahLst/>
            <a:cxnLst/>
            <a:rect l="l" t="t" r="r" b="b"/>
            <a:pathLst>
              <a:path w="1587500" h="95250">
                <a:moveTo>
                  <a:pt x="47625" y="0"/>
                </a:moveTo>
                <a:lnTo>
                  <a:pt x="1539875" y="0"/>
                </a:lnTo>
                <a:cubicBezTo>
                  <a:pt x="1566160" y="0"/>
                  <a:pt x="1587500" y="21340"/>
                  <a:pt x="1587500" y="47625"/>
                </a:cubicBezTo>
                <a:lnTo>
                  <a:pt x="1587500" y="47625"/>
                </a:lnTo>
                <a:cubicBezTo>
                  <a:pt x="1587500" y="73910"/>
                  <a:pt x="1566160" y="95250"/>
                  <a:pt x="1539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183" y="330183"/>
            <a:ext cx="330183" cy="330183"/>
          </a:xfrm>
          <a:custGeom>
            <a:avLst/>
            <a:gdLst/>
            <a:ahLst/>
            <a:cxnLst/>
            <a:rect l="l" t="t" r="r" b="b"/>
            <a:pathLst>
              <a:path w="330183" h="330183">
                <a:moveTo>
                  <a:pt x="66037" y="0"/>
                </a:moveTo>
                <a:lnTo>
                  <a:pt x="264146" y="0"/>
                </a:lnTo>
                <a:cubicBezTo>
                  <a:pt x="300617" y="0"/>
                  <a:pt x="330183" y="29566"/>
                  <a:pt x="330183" y="66037"/>
                </a:cubicBezTo>
                <a:lnTo>
                  <a:pt x="330183" y="264146"/>
                </a:lnTo>
                <a:cubicBezTo>
                  <a:pt x="330183" y="300617"/>
                  <a:pt x="300617" y="330183"/>
                  <a:pt x="264146" y="330183"/>
                </a:cubicBezTo>
                <a:lnTo>
                  <a:pt x="66037" y="330183"/>
                </a:lnTo>
                <a:cubicBezTo>
                  <a:pt x="29566" y="330183"/>
                  <a:pt x="0" y="300617"/>
                  <a:pt x="0" y="264146"/>
                </a:cubicBezTo>
                <a:lnTo>
                  <a:pt x="0" y="66037"/>
                </a:lnTo>
                <a:cubicBezTo>
                  <a:pt x="0" y="29590"/>
                  <a:pt x="29590" y="0"/>
                  <a:pt x="66037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3365" y="412729"/>
            <a:ext cx="123819" cy="165091"/>
          </a:xfrm>
          <a:custGeom>
            <a:avLst/>
            <a:gdLst/>
            <a:ahLst/>
            <a:cxnLst/>
            <a:rect l="l" t="t" r="r" b="b"/>
            <a:pathLst>
              <a:path w="123819" h="165091">
                <a:moveTo>
                  <a:pt x="20636" y="0"/>
                </a:moveTo>
                <a:cubicBezTo>
                  <a:pt x="9254" y="0"/>
                  <a:pt x="0" y="9254"/>
                  <a:pt x="0" y="20636"/>
                </a:cubicBezTo>
                <a:lnTo>
                  <a:pt x="0" y="144455"/>
                </a:lnTo>
                <a:cubicBezTo>
                  <a:pt x="0" y="155837"/>
                  <a:pt x="9254" y="165091"/>
                  <a:pt x="20636" y="165091"/>
                </a:cubicBezTo>
                <a:lnTo>
                  <a:pt x="103182" y="165091"/>
                </a:lnTo>
                <a:cubicBezTo>
                  <a:pt x="114564" y="165091"/>
                  <a:pt x="123819" y="155837"/>
                  <a:pt x="123819" y="144455"/>
                </a:cubicBezTo>
                <a:lnTo>
                  <a:pt x="123819" y="20636"/>
                </a:lnTo>
                <a:cubicBezTo>
                  <a:pt x="123819" y="9254"/>
                  <a:pt x="114564" y="0"/>
                  <a:pt x="103182" y="0"/>
                </a:cubicBezTo>
                <a:lnTo>
                  <a:pt x="20636" y="0"/>
                </a:lnTo>
                <a:close/>
                <a:moveTo>
                  <a:pt x="30955" y="20636"/>
                </a:moveTo>
                <a:lnTo>
                  <a:pt x="92864" y="20636"/>
                </a:lnTo>
                <a:cubicBezTo>
                  <a:pt x="98571" y="20636"/>
                  <a:pt x="103182" y="25247"/>
                  <a:pt x="103182" y="30955"/>
                </a:cubicBezTo>
                <a:lnTo>
                  <a:pt x="103182" y="41273"/>
                </a:lnTo>
                <a:cubicBezTo>
                  <a:pt x="103182" y="46980"/>
                  <a:pt x="98571" y="51591"/>
                  <a:pt x="92864" y="51591"/>
                </a:cubicBezTo>
                <a:lnTo>
                  <a:pt x="30955" y="51591"/>
                </a:lnTo>
                <a:cubicBezTo>
                  <a:pt x="25247" y="51591"/>
                  <a:pt x="20636" y="46980"/>
                  <a:pt x="20636" y="41273"/>
                </a:cubicBezTo>
                <a:lnTo>
                  <a:pt x="20636" y="30955"/>
                </a:lnTo>
                <a:cubicBezTo>
                  <a:pt x="20636" y="25247"/>
                  <a:pt x="25247" y="20636"/>
                  <a:pt x="30955" y="20636"/>
                </a:cubicBezTo>
                <a:close/>
                <a:moveTo>
                  <a:pt x="36114" y="74807"/>
                </a:moveTo>
                <a:cubicBezTo>
                  <a:pt x="36114" y="79078"/>
                  <a:pt x="32646" y="82546"/>
                  <a:pt x="28375" y="82546"/>
                </a:cubicBezTo>
                <a:cubicBezTo>
                  <a:pt x="24104" y="82546"/>
                  <a:pt x="20636" y="79078"/>
                  <a:pt x="20636" y="74807"/>
                </a:cubicBezTo>
                <a:cubicBezTo>
                  <a:pt x="20636" y="70536"/>
                  <a:pt x="24104" y="67068"/>
                  <a:pt x="28375" y="67068"/>
                </a:cubicBezTo>
                <a:cubicBezTo>
                  <a:pt x="32646" y="67068"/>
                  <a:pt x="36114" y="70536"/>
                  <a:pt x="36114" y="74807"/>
                </a:cubicBezTo>
                <a:close/>
                <a:moveTo>
                  <a:pt x="61909" y="82546"/>
                </a:moveTo>
                <a:cubicBezTo>
                  <a:pt x="57638" y="82546"/>
                  <a:pt x="54171" y="79078"/>
                  <a:pt x="54171" y="74807"/>
                </a:cubicBezTo>
                <a:cubicBezTo>
                  <a:pt x="54171" y="70536"/>
                  <a:pt x="57638" y="67068"/>
                  <a:pt x="61909" y="67068"/>
                </a:cubicBezTo>
                <a:cubicBezTo>
                  <a:pt x="66180" y="67068"/>
                  <a:pt x="69648" y="70536"/>
                  <a:pt x="69648" y="74807"/>
                </a:cubicBezTo>
                <a:cubicBezTo>
                  <a:pt x="69648" y="79078"/>
                  <a:pt x="66180" y="82546"/>
                  <a:pt x="61909" y="82546"/>
                </a:cubicBezTo>
                <a:close/>
                <a:moveTo>
                  <a:pt x="103182" y="74807"/>
                </a:moveTo>
                <a:cubicBezTo>
                  <a:pt x="103182" y="79078"/>
                  <a:pt x="99715" y="82546"/>
                  <a:pt x="95443" y="82546"/>
                </a:cubicBezTo>
                <a:cubicBezTo>
                  <a:pt x="91172" y="82546"/>
                  <a:pt x="87705" y="79078"/>
                  <a:pt x="87705" y="74807"/>
                </a:cubicBezTo>
                <a:cubicBezTo>
                  <a:pt x="87705" y="70536"/>
                  <a:pt x="91172" y="67068"/>
                  <a:pt x="95443" y="67068"/>
                </a:cubicBezTo>
                <a:cubicBezTo>
                  <a:pt x="99715" y="67068"/>
                  <a:pt x="103182" y="70536"/>
                  <a:pt x="103182" y="74807"/>
                </a:cubicBezTo>
                <a:close/>
                <a:moveTo>
                  <a:pt x="28375" y="113500"/>
                </a:moveTo>
                <a:cubicBezTo>
                  <a:pt x="24104" y="113500"/>
                  <a:pt x="20636" y="110033"/>
                  <a:pt x="20636" y="105762"/>
                </a:cubicBezTo>
                <a:cubicBezTo>
                  <a:pt x="20636" y="101491"/>
                  <a:pt x="24104" y="98023"/>
                  <a:pt x="28375" y="98023"/>
                </a:cubicBezTo>
                <a:cubicBezTo>
                  <a:pt x="32646" y="98023"/>
                  <a:pt x="36114" y="101491"/>
                  <a:pt x="36114" y="105762"/>
                </a:cubicBezTo>
                <a:cubicBezTo>
                  <a:pt x="36114" y="110033"/>
                  <a:pt x="32646" y="113500"/>
                  <a:pt x="28375" y="113500"/>
                </a:cubicBezTo>
                <a:close/>
                <a:moveTo>
                  <a:pt x="69648" y="105762"/>
                </a:moveTo>
                <a:cubicBezTo>
                  <a:pt x="69648" y="110033"/>
                  <a:pt x="66180" y="113500"/>
                  <a:pt x="61909" y="113500"/>
                </a:cubicBezTo>
                <a:cubicBezTo>
                  <a:pt x="57638" y="113500"/>
                  <a:pt x="54171" y="110033"/>
                  <a:pt x="54171" y="105762"/>
                </a:cubicBezTo>
                <a:cubicBezTo>
                  <a:pt x="54171" y="101491"/>
                  <a:pt x="57638" y="98023"/>
                  <a:pt x="61909" y="98023"/>
                </a:cubicBezTo>
                <a:cubicBezTo>
                  <a:pt x="66180" y="98023"/>
                  <a:pt x="69648" y="101491"/>
                  <a:pt x="69648" y="105762"/>
                </a:cubicBezTo>
                <a:close/>
                <a:moveTo>
                  <a:pt x="95443" y="113500"/>
                </a:moveTo>
                <a:cubicBezTo>
                  <a:pt x="91172" y="113500"/>
                  <a:pt x="87705" y="110033"/>
                  <a:pt x="87705" y="105762"/>
                </a:cubicBezTo>
                <a:cubicBezTo>
                  <a:pt x="87705" y="101491"/>
                  <a:pt x="91172" y="98023"/>
                  <a:pt x="95443" y="98023"/>
                </a:cubicBezTo>
                <a:cubicBezTo>
                  <a:pt x="99715" y="98023"/>
                  <a:pt x="103182" y="101491"/>
                  <a:pt x="103182" y="105762"/>
                </a:cubicBezTo>
                <a:cubicBezTo>
                  <a:pt x="103182" y="110033"/>
                  <a:pt x="99715" y="113500"/>
                  <a:pt x="95443" y="113500"/>
                </a:cubicBezTo>
                <a:close/>
                <a:moveTo>
                  <a:pt x="20636" y="136716"/>
                </a:moveTo>
                <a:cubicBezTo>
                  <a:pt x="20636" y="132428"/>
                  <a:pt x="24087" y="128978"/>
                  <a:pt x="28375" y="128978"/>
                </a:cubicBezTo>
                <a:lnTo>
                  <a:pt x="64489" y="128978"/>
                </a:lnTo>
                <a:cubicBezTo>
                  <a:pt x="68777" y="128978"/>
                  <a:pt x="72227" y="132428"/>
                  <a:pt x="72227" y="136716"/>
                </a:cubicBezTo>
                <a:cubicBezTo>
                  <a:pt x="72227" y="141005"/>
                  <a:pt x="68777" y="144455"/>
                  <a:pt x="64489" y="144455"/>
                </a:cubicBezTo>
                <a:lnTo>
                  <a:pt x="28375" y="144455"/>
                </a:lnTo>
                <a:cubicBezTo>
                  <a:pt x="24087" y="144455"/>
                  <a:pt x="20636" y="141005"/>
                  <a:pt x="20636" y="136716"/>
                </a:cubicBezTo>
                <a:close/>
                <a:moveTo>
                  <a:pt x="95443" y="128978"/>
                </a:moveTo>
                <a:cubicBezTo>
                  <a:pt x="99732" y="128978"/>
                  <a:pt x="103182" y="132428"/>
                  <a:pt x="103182" y="136716"/>
                </a:cubicBezTo>
                <a:cubicBezTo>
                  <a:pt x="103182" y="141005"/>
                  <a:pt x="99732" y="144455"/>
                  <a:pt x="95443" y="144455"/>
                </a:cubicBezTo>
                <a:cubicBezTo>
                  <a:pt x="91155" y="144455"/>
                  <a:pt x="87705" y="141005"/>
                  <a:pt x="87705" y="136716"/>
                </a:cubicBezTo>
                <a:cubicBezTo>
                  <a:pt x="87705" y="132428"/>
                  <a:pt x="91155" y="128978"/>
                  <a:pt x="95443" y="12897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59420" y="396219"/>
            <a:ext cx="1683932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spc="52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0183" y="759420"/>
            <a:ext cx="11729744" cy="39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Impact Scenarios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0183" y="1320731"/>
            <a:ext cx="11531634" cy="3111973"/>
          </a:xfrm>
          <a:custGeom>
            <a:avLst/>
            <a:gdLst/>
            <a:ahLst/>
            <a:cxnLst/>
            <a:rect l="l" t="t" r="r" b="b"/>
            <a:pathLst>
              <a:path w="11531634" h="3111973">
                <a:moveTo>
                  <a:pt x="99054" y="0"/>
                </a:moveTo>
                <a:lnTo>
                  <a:pt x="11432580" y="0"/>
                </a:lnTo>
                <a:cubicBezTo>
                  <a:pt x="11487286" y="0"/>
                  <a:pt x="11531634" y="44348"/>
                  <a:pt x="11531634" y="99054"/>
                </a:cubicBezTo>
                <a:lnTo>
                  <a:pt x="11531634" y="3012919"/>
                </a:lnTo>
                <a:cubicBezTo>
                  <a:pt x="11531634" y="3067625"/>
                  <a:pt x="11487286" y="3111973"/>
                  <a:pt x="11432580" y="3111973"/>
                </a:cubicBezTo>
                <a:lnTo>
                  <a:pt x="99054" y="3111973"/>
                </a:lnTo>
                <a:cubicBezTo>
                  <a:pt x="44348" y="3111973"/>
                  <a:pt x="0" y="3067625"/>
                  <a:pt x="0" y="3012919"/>
                </a:cubicBezTo>
                <a:lnTo>
                  <a:pt x="0" y="99054"/>
                </a:lnTo>
                <a:cubicBezTo>
                  <a:pt x="0" y="44385"/>
                  <a:pt x="44385" y="0"/>
                  <a:pt x="99054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8292" y="1518841"/>
            <a:ext cx="11217961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Scenarios &amp; Revenue Impact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292" y="1882042"/>
          <a:ext cx="11135415" cy="2055388"/>
        </p:xfrm>
        <a:graphic>
          <a:graphicData uri="http://schemas.openxmlformats.org/drawingml/2006/table">
            <a:tbl>
              <a:tblPr/>
              <a:tblGrid>
                <a:gridCol w="2349070"/>
                <a:gridCol w="2044103"/>
                <a:gridCol w="2035860"/>
                <a:gridCol w="3024942"/>
                <a:gridCol w="1681439"/>
              </a:tblGrid>
              <a:tr h="513847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Scenario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Weekend Price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Weekday Price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Annual Revenue Impact*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Risk Level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</a:tr>
              <a:tr h="51384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Conservative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$89 (+$8)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$56 (+$5)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+$1.8M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</a:tr>
              <a:tr h="51384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Recommended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$97 (+$16)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$61 (+$10)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+$3.5M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10000"/>
                      </a:srgbClr>
                    </a:solidFill>
                  </a:tcPr>
                </a:tc>
              </a:tr>
              <a:tr h="51384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Aggressive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$105 (+$24)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$66 (+$15)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+$5.2M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2073" marR="132073" marT="132073" marB="1320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02C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28292" y="4039238"/>
            <a:ext cx="11201452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*Assumes 350K annual visitors, 60% weekend/40% weekday split, 5% demand elasticity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0183" y="4600548"/>
            <a:ext cx="3731066" cy="2261752"/>
          </a:xfrm>
          <a:custGeom>
            <a:avLst/>
            <a:gdLst/>
            <a:ahLst/>
            <a:cxnLst/>
            <a:rect l="l" t="t" r="r" b="b"/>
            <a:pathLst>
              <a:path w="3731066" h="2261752">
                <a:moveTo>
                  <a:pt x="99065" y="0"/>
                </a:moveTo>
                <a:lnTo>
                  <a:pt x="3632001" y="0"/>
                </a:lnTo>
                <a:cubicBezTo>
                  <a:pt x="3686713" y="0"/>
                  <a:pt x="3731066" y="44353"/>
                  <a:pt x="3731066" y="99065"/>
                </a:cubicBezTo>
                <a:lnTo>
                  <a:pt x="3731066" y="2162687"/>
                </a:lnTo>
                <a:cubicBezTo>
                  <a:pt x="3731066" y="2217399"/>
                  <a:pt x="3686713" y="2261752"/>
                  <a:pt x="3632001" y="2261752"/>
                </a:cubicBezTo>
                <a:lnTo>
                  <a:pt x="99065" y="2261752"/>
                </a:lnTo>
                <a:cubicBezTo>
                  <a:pt x="44353" y="2261752"/>
                  <a:pt x="0" y="2217399"/>
                  <a:pt x="0" y="2162687"/>
                </a:cubicBezTo>
                <a:lnTo>
                  <a:pt x="0" y="99065"/>
                </a:lnTo>
                <a:cubicBezTo>
                  <a:pt x="0" y="44353"/>
                  <a:pt x="44353" y="0"/>
                  <a:pt x="9906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61311" y="4975100"/>
            <a:ext cx="247637" cy="247637"/>
          </a:xfrm>
          <a:custGeom>
            <a:avLst/>
            <a:gdLst/>
            <a:ahLst/>
            <a:cxnLst/>
            <a:rect l="l" t="t" r="r" b="b"/>
            <a:pathLst>
              <a:path w="247637" h="247637">
                <a:moveTo>
                  <a:pt x="123819" y="0"/>
                </a:moveTo>
                <a:cubicBezTo>
                  <a:pt x="126043" y="0"/>
                  <a:pt x="128268" y="484"/>
                  <a:pt x="130300" y="1403"/>
                </a:cubicBezTo>
                <a:lnTo>
                  <a:pt x="221422" y="40048"/>
                </a:lnTo>
                <a:cubicBezTo>
                  <a:pt x="232063" y="44546"/>
                  <a:pt x="239995" y="55041"/>
                  <a:pt x="239947" y="67713"/>
                </a:cubicBezTo>
                <a:cubicBezTo>
                  <a:pt x="239705" y="115693"/>
                  <a:pt x="219971" y="203478"/>
                  <a:pt x="136636" y="243381"/>
                </a:cubicBezTo>
                <a:cubicBezTo>
                  <a:pt x="128558" y="247250"/>
                  <a:pt x="119175" y="247250"/>
                  <a:pt x="111098" y="243381"/>
                </a:cubicBezTo>
                <a:cubicBezTo>
                  <a:pt x="27714" y="203478"/>
                  <a:pt x="8029" y="115693"/>
                  <a:pt x="7787" y="67713"/>
                </a:cubicBezTo>
                <a:cubicBezTo>
                  <a:pt x="7739" y="55041"/>
                  <a:pt x="15671" y="44546"/>
                  <a:pt x="26311" y="40048"/>
                </a:cubicBezTo>
                <a:lnTo>
                  <a:pt x="117386" y="1403"/>
                </a:lnTo>
                <a:cubicBezTo>
                  <a:pt x="119417" y="484"/>
                  <a:pt x="121594" y="0"/>
                  <a:pt x="123819" y="0"/>
                </a:cubicBezTo>
                <a:close/>
                <a:moveTo>
                  <a:pt x="123819" y="32309"/>
                </a:moveTo>
                <a:lnTo>
                  <a:pt x="123819" y="215183"/>
                </a:lnTo>
                <a:cubicBezTo>
                  <a:pt x="190564" y="182874"/>
                  <a:pt x="208509" y="111292"/>
                  <a:pt x="208944" y="68439"/>
                </a:cubicBezTo>
                <a:lnTo>
                  <a:pt x="123819" y="32357"/>
                </a:lnTo>
                <a:lnTo>
                  <a:pt x="123819" y="3235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9"/>
          <p:cNvSpPr/>
          <p:nvPr/>
        </p:nvSpPr>
        <p:spPr>
          <a:xfrm>
            <a:off x="936894" y="4983354"/>
            <a:ext cx="1485823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Sensitivity Analysis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292" y="5354810"/>
            <a:ext cx="3409137" cy="239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with </a:t>
            </a:r>
            <a:pPr>
              <a:lnSpc>
                <a:spcPct val="140000"/>
              </a:lnSpc>
            </a:pPr>
            <a:r>
              <a:rPr lang="en-US" sz="117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visitor loss</a:t>
            </a:r>
            <a:pPr>
              <a:lnSpc>
                <a:spcPct val="140000"/>
              </a:lnSpc>
            </a:pPr>
            <a:r>
              <a:rPr lang="en-US" sz="117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price increase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8292" y="5695311"/>
            <a:ext cx="3334846" cy="792439"/>
          </a:xfrm>
          <a:custGeom>
            <a:avLst/>
            <a:gdLst/>
            <a:ahLst/>
            <a:cxnLst/>
            <a:rect l="l" t="t" r="r" b="b"/>
            <a:pathLst>
              <a:path w="3334846" h="792439">
                <a:moveTo>
                  <a:pt x="66034" y="0"/>
                </a:moveTo>
                <a:lnTo>
                  <a:pt x="3268812" y="0"/>
                </a:lnTo>
                <a:cubicBezTo>
                  <a:pt x="3305282" y="0"/>
                  <a:pt x="3334846" y="29564"/>
                  <a:pt x="3334846" y="66034"/>
                </a:cubicBezTo>
                <a:lnTo>
                  <a:pt x="3334846" y="726405"/>
                </a:lnTo>
                <a:cubicBezTo>
                  <a:pt x="3334846" y="762874"/>
                  <a:pt x="3305282" y="792439"/>
                  <a:pt x="3268812" y="792439"/>
                </a:cubicBezTo>
                <a:lnTo>
                  <a:pt x="66034" y="792439"/>
                </a:lnTo>
                <a:cubicBezTo>
                  <a:pt x="29589" y="792439"/>
                  <a:pt x="0" y="762850"/>
                  <a:pt x="0" y="726405"/>
                </a:cubicBezTo>
                <a:lnTo>
                  <a:pt x="0" y="66034"/>
                </a:lnTo>
                <a:cubicBezTo>
                  <a:pt x="0" y="29589"/>
                  <a:pt x="29589" y="0"/>
                  <a:pt x="6603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0366" y="5827384"/>
            <a:ext cx="3136737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revenue still positive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0366" y="6058512"/>
            <a:ext cx="3194519" cy="29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+$2.1M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29951" y="4600548"/>
            <a:ext cx="3731066" cy="2261752"/>
          </a:xfrm>
          <a:custGeom>
            <a:avLst/>
            <a:gdLst/>
            <a:ahLst/>
            <a:cxnLst/>
            <a:rect l="l" t="t" r="r" b="b"/>
            <a:pathLst>
              <a:path w="3731066" h="2261752">
                <a:moveTo>
                  <a:pt x="99065" y="0"/>
                </a:moveTo>
                <a:lnTo>
                  <a:pt x="3632001" y="0"/>
                </a:lnTo>
                <a:cubicBezTo>
                  <a:pt x="3686713" y="0"/>
                  <a:pt x="3731066" y="44353"/>
                  <a:pt x="3731066" y="99065"/>
                </a:cubicBezTo>
                <a:lnTo>
                  <a:pt x="3731066" y="2162687"/>
                </a:lnTo>
                <a:cubicBezTo>
                  <a:pt x="3731066" y="2217399"/>
                  <a:pt x="3686713" y="2261752"/>
                  <a:pt x="3632001" y="2261752"/>
                </a:cubicBezTo>
                <a:lnTo>
                  <a:pt x="99065" y="2261752"/>
                </a:lnTo>
                <a:cubicBezTo>
                  <a:pt x="44353" y="2261752"/>
                  <a:pt x="0" y="2217399"/>
                  <a:pt x="0" y="2162687"/>
                </a:cubicBezTo>
                <a:lnTo>
                  <a:pt x="0" y="99065"/>
                </a:lnTo>
                <a:cubicBezTo>
                  <a:pt x="0" y="44353"/>
                  <a:pt x="44353" y="0"/>
                  <a:pt x="9906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30125" y="4798658"/>
            <a:ext cx="309546" cy="247637"/>
          </a:xfrm>
          <a:custGeom>
            <a:avLst/>
            <a:gdLst/>
            <a:ahLst/>
            <a:cxnLst/>
            <a:rect l="l" t="t" r="r" b="b"/>
            <a:pathLst>
              <a:path w="309546" h="247637">
                <a:moveTo>
                  <a:pt x="154773" y="7739"/>
                </a:moveTo>
                <a:cubicBezTo>
                  <a:pt x="182535" y="7739"/>
                  <a:pt x="205074" y="30278"/>
                  <a:pt x="205074" y="58040"/>
                </a:cubicBezTo>
                <a:cubicBezTo>
                  <a:pt x="205074" y="85802"/>
                  <a:pt x="182535" y="108341"/>
                  <a:pt x="154773" y="108341"/>
                </a:cubicBezTo>
                <a:cubicBezTo>
                  <a:pt x="127011" y="108341"/>
                  <a:pt x="104472" y="85802"/>
                  <a:pt x="104472" y="58040"/>
                </a:cubicBezTo>
                <a:cubicBezTo>
                  <a:pt x="104472" y="30278"/>
                  <a:pt x="127011" y="7739"/>
                  <a:pt x="154773" y="7739"/>
                </a:cubicBezTo>
                <a:close/>
                <a:moveTo>
                  <a:pt x="46432" y="42563"/>
                </a:moveTo>
                <a:cubicBezTo>
                  <a:pt x="65652" y="42563"/>
                  <a:pt x="81256" y="58167"/>
                  <a:pt x="81256" y="77387"/>
                </a:cubicBezTo>
                <a:cubicBezTo>
                  <a:pt x="81256" y="96606"/>
                  <a:pt x="65652" y="112211"/>
                  <a:pt x="46432" y="112211"/>
                </a:cubicBezTo>
                <a:cubicBezTo>
                  <a:pt x="27212" y="112211"/>
                  <a:pt x="11608" y="96606"/>
                  <a:pt x="11608" y="77387"/>
                </a:cubicBezTo>
                <a:cubicBezTo>
                  <a:pt x="11608" y="58167"/>
                  <a:pt x="27212" y="42563"/>
                  <a:pt x="46432" y="42563"/>
                </a:cubicBezTo>
                <a:close/>
                <a:moveTo>
                  <a:pt x="0" y="201205"/>
                </a:moveTo>
                <a:cubicBezTo>
                  <a:pt x="0" y="167010"/>
                  <a:pt x="27714" y="139296"/>
                  <a:pt x="61909" y="139296"/>
                </a:cubicBezTo>
                <a:cubicBezTo>
                  <a:pt x="68100" y="139296"/>
                  <a:pt x="74098" y="140215"/>
                  <a:pt x="79757" y="141908"/>
                </a:cubicBezTo>
                <a:cubicBezTo>
                  <a:pt x="63844" y="159707"/>
                  <a:pt x="54171" y="183213"/>
                  <a:pt x="54171" y="208944"/>
                </a:cubicBezTo>
                <a:lnTo>
                  <a:pt x="54171" y="216682"/>
                </a:lnTo>
                <a:cubicBezTo>
                  <a:pt x="54171" y="222196"/>
                  <a:pt x="55331" y="227420"/>
                  <a:pt x="57411" y="232160"/>
                </a:cubicBezTo>
                <a:lnTo>
                  <a:pt x="15477" y="232160"/>
                </a:lnTo>
                <a:cubicBezTo>
                  <a:pt x="6916" y="232160"/>
                  <a:pt x="0" y="225243"/>
                  <a:pt x="0" y="216682"/>
                </a:cubicBezTo>
                <a:lnTo>
                  <a:pt x="0" y="201205"/>
                </a:lnTo>
                <a:close/>
                <a:moveTo>
                  <a:pt x="252135" y="232160"/>
                </a:moveTo>
                <a:cubicBezTo>
                  <a:pt x="254215" y="227420"/>
                  <a:pt x="255376" y="222196"/>
                  <a:pt x="255376" y="216682"/>
                </a:cubicBezTo>
                <a:lnTo>
                  <a:pt x="255376" y="208944"/>
                </a:lnTo>
                <a:cubicBezTo>
                  <a:pt x="255376" y="183213"/>
                  <a:pt x="245702" y="159707"/>
                  <a:pt x="229790" y="141908"/>
                </a:cubicBezTo>
                <a:cubicBezTo>
                  <a:pt x="235449" y="140215"/>
                  <a:pt x="241446" y="139296"/>
                  <a:pt x="247637" y="139296"/>
                </a:cubicBezTo>
                <a:cubicBezTo>
                  <a:pt x="281832" y="139296"/>
                  <a:pt x="309546" y="167010"/>
                  <a:pt x="309546" y="201205"/>
                </a:cubicBezTo>
                <a:lnTo>
                  <a:pt x="309546" y="216682"/>
                </a:lnTo>
                <a:cubicBezTo>
                  <a:pt x="309546" y="225243"/>
                  <a:pt x="302630" y="232160"/>
                  <a:pt x="294069" y="232160"/>
                </a:cubicBezTo>
                <a:lnTo>
                  <a:pt x="252135" y="232160"/>
                </a:lnTo>
                <a:close/>
                <a:moveTo>
                  <a:pt x="228290" y="77387"/>
                </a:moveTo>
                <a:cubicBezTo>
                  <a:pt x="228290" y="58167"/>
                  <a:pt x="243895" y="42563"/>
                  <a:pt x="263114" y="42563"/>
                </a:cubicBezTo>
                <a:cubicBezTo>
                  <a:pt x="282334" y="42563"/>
                  <a:pt x="297938" y="58167"/>
                  <a:pt x="297938" y="77387"/>
                </a:cubicBezTo>
                <a:cubicBezTo>
                  <a:pt x="297938" y="96606"/>
                  <a:pt x="282334" y="112211"/>
                  <a:pt x="263114" y="112211"/>
                </a:cubicBezTo>
                <a:cubicBezTo>
                  <a:pt x="243895" y="112211"/>
                  <a:pt x="228290" y="96606"/>
                  <a:pt x="228290" y="77387"/>
                </a:cubicBezTo>
                <a:close/>
                <a:moveTo>
                  <a:pt x="77387" y="208944"/>
                </a:moveTo>
                <a:cubicBezTo>
                  <a:pt x="77387" y="166188"/>
                  <a:pt x="112017" y="131557"/>
                  <a:pt x="154773" y="131557"/>
                </a:cubicBezTo>
                <a:cubicBezTo>
                  <a:pt x="197529" y="131557"/>
                  <a:pt x="232160" y="166188"/>
                  <a:pt x="232160" y="208944"/>
                </a:cubicBezTo>
                <a:lnTo>
                  <a:pt x="232160" y="216682"/>
                </a:lnTo>
                <a:cubicBezTo>
                  <a:pt x="232160" y="225243"/>
                  <a:pt x="225243" y="232160"/>
                  <a:pt x="216682" y="232160"/>
                </a:cubicBezTo>
                <a:lnTo>
                  <a:pt x="92864" y="232160"/>
                </a:lnTo>
                <a:cubicBezTo>
                  <a:pt x="84303" y="232160"/>
                  <a:pt x="77387" y="225243"/>
                  <a:pt x="77387" y="216682"/>
                </a:cubicBezTo>
                <a:lnTo>
                  <a:pt x="77387" y="20894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4836662" y="4806913"/>
            <a:ext cx="1040076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28061" y="5178368"/>
            <a:ext cx="3334846" cy="429238"/>
          </a:xfrm>
          <a:custGeom>
            <a:avLst/>
            <a:gdLst/>
            <a:ahLst/>
            <a:cxnLst/>
            <a:rect l="l" t="t" r="r" b="b"/>
            <a:pathLst>
              <a:path w="3334846" h="429238">
                <a:moveTo>
                  <a:pt x="33017" y="0"/>
                </a:moveTo>
                <a:lnTo>
                  <a:pt x="3301829" y="0"/>
                </a:lnTo>
                <a:cubicBezTo>
                  <a:pt x="3320064" y="0"/>
                  <a:pt x="3334846" y="14782"/>
                  <a:pt x="3334846" y="33017"/>
                </a:cubicBezTo>
                <a:lnTo>
                  <a:pt x="3334846" y="396221"/>
                </a:lnTo>
                <a:cubicBezTo>
                  <a:pt x="3334846" y="414455"/>
                  <a:pt x="3320064" y="429238"/>
                  <a:pt x="3301829" y="429238"/>
                </a:cubicBezTo>
                <a:lnTo>
                  <a:pt x="33017" y="429238"/>
                </a:lnTo>
                <a:cubicBezTo>
                  <a:pt x="14794" y="429238"/>
                  <a:pt x="0" y="414443"/>
                  <a:pt x="0" y="396221"/>
                </a:cubicBezTo>
                <a:lnTo>
                  <a:pt x="0" y="33017"/>
                </a:lnTo>
                <a:cubicBezTo>
                  <a:pt x="0" y="14794"/>
                  <a:pt x="14794" y="0"/>
                  <a:pt x="330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527116" y="5293932"/>
            <a:ext cx="916257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Visitors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84486" y="5277423"/>
            <a:ext cx="462256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350K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28061" y="5706661"/>
            <a:ext cx="3334846" cy="429238"/>
          </a:xfrm>
          <a:custGeom>
            <a:avLst/>
            <a:gdLst/>
            <a:ahLst/>
            <a:cxnLst/>
            <a:rect l="l" t="t" r="r" b="b"/>
            <a:pathLst>
              <a:path w="3334846" h="429238">
                <a:moveTo>
                  <a:pt x="33017" y="0"/>
                </a:moveTo>
                <a:lnTo>
                  <a:pt x="3301829" y="0"/>
                </a:lnTo>
                <a:cubicBezTo>
                  <a:pt x="3320064" y="0"/>
                  <a:pt x="3334846" y="14782"/>
                  <a:pt x="3334846" y="33017"/>
                </a:cubicBezTo>
                <a:lnTo>
                  <a:pt x="3334846" y="396221"/>
                </a:lnTo>
                <a:cubicBezTo>
                  <a:pt x="3334846" y="414455"/>
                  <a:pt x="3320064" y="429238"/>
                  <a:pt x="3301829" y="429238"/>
                </a:cubicBezTo>
                <a:lnTo>
                  <a:pt x="33017" y="429238"/>
                </a:lnTo>
                <a:cubicBezTo>
                  <a:pt x="14794" y="429238"/>
                  <a:pt x="0" y="414443"/>
                  <a:pt x="0" y="396221"/>
                </a:cubicBezTo>
                <a:lnTo>
                  <a:pt x="0" y="33017"/>
                </a:lnTo>
                <a:cubicBezTo>
                  <a:pt x="0" y="14794"/>
                  <a:pt x="14794" y="0"/>
                  <a:pt x="330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527116" y="5822225"/>
            <a:ext cx="908003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Split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34358" y="5805716"/>
            <a:ext cx="412729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28061" y="6234953"/>
            <a:ext cx="3334846" cy="429238"/>
          </a:xfrm>
          <a:custGeom>
            <a:avLst/>
            <a:gdLst/>
            <a:ahLst/>
            <a:cxnLst/>
            <a:rect l="l" t="t" r="r" b="b"/>
            <a:pathLst>
              <a:path w="3334846" h="429238">
                <a:moveTo>
                  <a:pt x="33017" y="0"/>
                </a:moveTo>
                <a:lnTo>
                  <a:pt x="3301829" y="0"/>
                </a:lnTo>
                <a:cubicBezTo>
                  <a:pt x="3320064" y="0"/>
                  <a:pt x="3334846" y="14782"/>
                  <a:pt x="3334846" y="33017"/>
                </a:cubicBezTo>
                <a:lnTo>
                  <a:pt x="3334846" y="396221"/>
                </a:lnTo>
                <a:cubicBezTo>
                  <a:pt x="3334846" y="414455"/>
                  <a:pt x="3320064" y="429238"/>
                  <a:pt x="3301829" y="429238"/>
                </a:cubicBezTo>
                <a:lnTo>
                  <a:pt x="33017" y="429238"/>
                </a:lnTo>
                <a:cubicBezTo>
                  <a:pt x="14794" y="429238"/>
                  <a:pt x="0" y="414443"/>
                  <a:pt x="0" y="396221"/>
                </a:cubicBezTo>
                <a:lnTo>
                  <a:pt x="0" y="33017"/>
                </a:lnTo>
                <a:cubicBezTo>
                  <a:pt x="0" y="14794"/>
                  <a:pt x="14794" y="0"/>
                  <a:pt x="330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527116" y="6350517"/>
            <a:ext cx="883239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Elasticity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43645" y="6334008"/>
            <a:ext cx="305419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32557" y="4603300"/>
            <a:ext cx="3728314" cy="2259001"/>
          </a:xfrm>
          <a:custGeom>
            <a:avLst/>
            <a:gdLst/>
            <a:ahLst/>
            <a:cxnLst/>
            <a:rect l="l" t="t" r="r" b="b"/>
            <a:pathLst>
              <a:path w="3728314" h="2259001">
                <a:moveTo>
                  <a:pt x="99057" y="0"/>
                </a:moveTo>
                <a:lnTo>
                  <a:pt x="3629257" y="0"/>
                </a:lnTo>
                <a:cubicBezTo>
                  <a:pt x="3683965" y="0"/>
                  <a:pt x="3728314" y="44349"/>
                  <a:pt x="3728314" y="99057"/>
                </a:cubicBezTo>
                <a:lnTo>
                  <a:pt x="3728314" y="2159943"/>
                </a:lnTo>
                <a:cubicBezTo>
                  <a:pt x="3728314" y="2214651"/>
                  <a:pt x="3683965" y="2259001"/>
                  <a:pt x="3629257" y="2259001"/>
                </a:cubicBezTo>
                <a:lnTo>
                  <a:pt x="99057" y="2259001"/>
                </a:lnTo>
                <a:cubicBezTo>
                  <a:pt x="44349" y="2259001"/>
                  <a:pt x="0" y="2214651"/>
                  <a:pt x="0" y="2159943"/>
                </a:cubicBezTo>
                <a:lnTo>
                  <a:pt x="0" y="99057"/>
                </a:lnTo>
                <a:cubicBezTo>
                  <a:pt x="0" y="44349"/>
                  <a:pt x="44349" y="0"/>
                  <a:pt x="99057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66437" y="4996768"/>
            <a:ext cx="247637" cy="247637"/>
          </a:xfrm>
          <a:custGeom>
            <a:avLst/>
            <a:gdLst/>
            <a:ahLst/>
            <a:cxnLst/>
            <a:rect l="l" t="t" r="r" b="b"/>
            <a:pathLst>
              <a:path w="247637" h="247637">
                <a:moveTo>
                  <a:pt x="30955" y="30955"/>
                </a:moveTo>
                <a:cubicBezTo>
                  <a:pt x="30955" y="22394"/>
                  <a:pt x="24038" y="15477"/>
                  <a:pt x="15477" y="15477"/>
                </a:cubicBezTo>
                <a:cubicBezTo>
                  <a:pt x="6916" y="15477"/>
                  <a:pt x="0" y="22394"/>
                  <a:pt x="0" y="30955"/>
                </a:cubicBezTo>
                <a:lnTo>
                  <a:pt x="0" y="193466"/>
                </a:lnTo>
                <a:cubicBezTo>
                  <a:pt x="0" y="214845"/>
                  <a:pt x="17315" y="232160"/>
                  <a:pt x="38693" y="232160"/>
                </a:cubicBezTo>
                <a:lnTo>
                  <a:pt x="232160" y="232160"/>
                </a:lnTo>
                <a:cubicBezTo>
                  <a:pt x="240721" y="232160"/>
                  <a:pt x="247637" y="225243"/>
                  <a:pt x="247637" y="216682"/>
                </a:cubicBezTo>
                <a:cubicBezTo>
                  <a:pt x="247637" y="208122"/>
                  <a:pt x="240721" y="201205"/>
                  <a:pt x="232160" y="201205"/>
                </a:cubicBezTo>
                <a:lnTo>
                  <a:pt x="38693" y="201205"/>
                </a:lnTo>
                <a:cubicBezTo>
                  <a:pt x="34437" y="201205"/>
                  <a:pt x="30955" y="197723"/>
                  <a:pt x="30955" y="193466"/>
                </a:cubicBezTo>
                <a:lnTo>
                  <a:pt x="30955" y="30955"/>
                </a:lnTo>
                <a:close/>
                <a:moveTo>
                  <a:pt x="227613" y="72840"/>
                </a:moveTo>
                <a:cubicBezTo>
                  <a:pt x="233659" y="66794"/>
                  <a:pt x="233659" y="56976"/>
                  <a:pt x="227613" y="50930"/>
                </a:cubicBezTo>
                <a:cubicBezTo>
                  <a:pt x="221567" y="44884"/>
                  <a:pt x="211749" y="44884"/>
                  <a:pt x="205703" y="50930"/>
                </a:cubicBezTo>
                <a:lnTo>
                  <a:pt x="154773" y="101908"/>
                </a:lnTo>
                <a:lnTo>
                  <a:pt x="127011" y="74194"/>
                </a:lnTo>
                <a:cubicBezTo>
                  <a:pt x="120965" y="68149"/>
                  <a:pt x="111146" y="68149"/>
                  <a:pt x="105101" y="74194"/>
                </a:cubicBezTo>
                <a:lnTo>
                  <a:pt x="58669" y="120626"/>
                </a:lnTo>
                <a:cubicBezTo>
                  <a:pt x="52623" y="126672"/>
                  <a:pt x="52623" y="136491"/>
                  <a:pt x="58669" y="142536"/>
                </a:cubicBezTo>
                <a:cubicBezTo>
                  <a:pt x="64715" y="148582"/>
                  <a:pt x="74533" y="148582"/>
                  <a:pt x="80579" y="142536"/>
                </a:cubicBezTo>
                <a:lnTo>
                  <a:pt x="116080" y="107035"/>
                </a:lnTo>
                <a:lnTo>
                  <a:pt x="143842" y="134798"/>
                </a:lnTo>
                <a:cubicBezTo>
                  <a:pt x="149888" y="140844"/>
                  <a:pt x="159707" y="140844"/>
                  <a:pt x="165752" y="134798"/>
                </a:cubicBezTo>
                <a:lnTo>
                  <a:pt x="227662" y="7288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8"/>
          <p:cNvSpPr/>
          <p:nvPr/>
        </p:nvSpPr>
        <p:spPr>
          <a:xfrm>
            <a:off x="8742020" y="5005022"/>
            <a:ext cx="1163894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349928" y="5409496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0"/>
          <p:cNvSpPr/>
          <p:nvPr/>
        </p:nvSpPr>
        <p:spPr>
          <a:xfrm>
            <a:off x="8564547" y="5376478"/>
            <a:ext cx="1981097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implementation approach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349928" y="5706661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2"/>
          <p:cNvSpPr/>
          <p:nvPr/>
        </p:nvSpPr>
        <p:spPr>
          <a:xfrm>
            <a:off x="8564547" y="5673643"/>
            <a:ext cx="1956333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monitoring &amp; adjustment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49928" y="6003825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4"/>
          <p:cNvSpPr/>
          <p:nvPr/>
        </p:nvSpPr>
        <p:spPr>
          <a:xfrm>
            <a:off x="8564547" y="5970807"/>
            <a:ext cx="1758223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response tracking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49928" y="6300990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6"/>
          <p:cNvSpPr/>
          <p:nvPr/>
        </p:nvSpPr>
        <p:spPr>
          <a:xfrm>
            <a:off x="8564547" y="6267972"/>
            <a:ext cx="1362004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 capabilities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954" y="318954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63791" y="0"/>
                </a:moveTo>
                <a:lnTo>
                  <a:pt x="255163" y="0"/>
                </a:lnTo>
                <a:cubicBezTo>
                  <a:pt x="290393" y="0"/>
                  <a:pt x="318954" y="28560"/>
                  <a:pt x="318954" y="63791"/>
                </a:cubicBezTo>
                <a:lnTo>
                  <a:pt x="318954" y="255163"/>
                </a:lnTo>
                <a:cubicBezTo>
                  <a:pt x="318954" y="290393"/>
                  <a:pt x="290393" y="318954"/>
                  <a:pt x="255163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8692" y="398692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41676" y="11307"/>
                </a:moveTo>
                <a:cubicBezTo>
                  <a:pt x="45071" y="13674"/>
                  <a:pt x="45881" y="18346"/>
                  <a:pt x="43513" y="21710"/>
                </a:cubicBezTo>
                <a:lnTo>
                  <a:pt x="26071" y="46628"/>
                </a:lnTo>
                <a:cubicBezTo>
                  <a:pt x="24794" y="48435"/>
                  <a:pt x="22800" y="49587"/>
                  <a:pt x="20589" y="49774"/>
                </a:cubicBezTo>
                <a:cubicBezTo>
                  <a:pt x="18377" y="49961"/>
                  <a:pt x="16197" y="49214"/>
                  <a:pt x="14639" y="47656"/>
                </a:cubicBezTo>
                <a:lnTo>
                  <a:pt x="2180" y="35197"/>
                </a:lnTo>
                <a:cubicBezTo>
                  <a:pt x="-716" y="32269"/>
                  <a:pt x="-716" y="27535"/>
                  <a:pt x="2180" y="24607"/>
                </a:cubicBezTo>
                <a:cubicBezTo>
                  <a:pt x="5077" y="21679"/>
                  <a:pt x="9843" y="21710"/>
                  <a:pt x="12771" y="24607"/>
                </a:cubicBezTo>
                <a:lnTo>
                  <a:pt x="18938" y="30774"/>
                </a:lnTo>
                <a:lnTo>
                  <a:pt x="31272" y="13144"/>
                </a:lnTo>
                <a:cubicBezTo>
                  <a:pt x="33640" y="9749"/>
                  <a:pt x="38312" y="8939"/>
                  <a:pt x="41676" y="11307"/>
                </a:cubicBezTo>
                <a:close/>
                <a:moveTo>
                  <a:pt x="41676" y="61143"/>
                </a:moveTo>
                <a:cubicBezTo>
                  <a:pt x="45071" y="63510"/>
                  <a:pt x="45881" y="68183"/>
                  <a:pt x="43513" y="71547"/>
                </a:cubicBezTo>
                <a:lnTo>
                  <a:pt x="26071" y="96465"/>
                </a:lnTo>
                <a:cubicBezTo>
                  <a:pt x="24794" y="98271"/>
                  <a:pt x="22800" y="99424"/>
                  <a:pt x="20589" y="99611"/>
                </a:cubicBezTo>
                <a:cubicBezTo>
                  <a:pt x="18377" y="99798"/>
                  <a:pt x="16197" y="99050"/>
                  <a:pt x="14639" y="97493"/>
                </a:cubicBezTo>
                <a:lnTo>
                  <a:pt x="2180" y="85034"/>
                </a:lnTo>
                <a:cubicBezTo>
                  <a:pt x="-748" y="82106"/>
                  <a:pt x="-748" y="77371"/>
                  <a:pt x="2180" y="74474"/>
                </a:cubicBezTo>
                <a:cubicBezTo>
                  <a:pt x="5108" y="71578"/>
                  <a:pt x="9843" y="71547"/>
                  <a:pt x="12739" y="74474"/>
                </a:cubicBezTo>
                <a:lnTo>
                  <a:pt x="18907" y="80642"/>
                </a:lnTo>
                <a:lnTo>
                  <a:pt x="31241" y="63012"/>
                </a:lnTo>
                <a:cubicBezTo>
                  <a:pt x="33608" y="59617"/>
                  <a:pt x="38281" y="58807"/>
                  <a:pt x="41645" y="61174"/>
                </a:cubicBezTo>
                <a:close/>
                <a:moveTo>
                  <a:pt x="69771" y="29902"/>
                </a:moveTo>
                <a:cubicBezTo>
                  <a:pt x="69771" y="24389"/>
                  <a:pt x="74225" y="19935"/>
                  <a:pt x="79738" y="19935"/>
                </a:cubicBezTo>
                <a:lnTo>
                  <a:pt x="149509" y="19935"/>
                </a:lnTo>
                <a:cubicBezTo>
                  <a:pt x="155023" y="19935"/>
                  <a:pt x="159477" y="24389"/>
                  <a:pt x="159477" y="29902"/>
                </a:cubicBezTo>
                <a:cubicBezTo>
                  <a:pt x="159477" y="35415"/>
                  <a:pt x="155023" y="39869"/>
                  <a:pt x="149509" y="39869"/>
                </a:cubicBezTo>
                <a:lnTo>
                  <a:pt x="79738" y="39869"/>
                </a:lnTo>
                <a:cubicBezTo>
                  <a:pt x="74225" y="39869"/>
                  <a:pt x="69771" y="35415"/>
                  <a:pt x="69771" y="29902"/>
                </a:cubicBezTo>
                <a:close/>
                <a:moveTo>
                  <a:pt x="69771" y="79738"/>
                </a:moveTo>
                <a:cubicBezTo>
                  <a:pt x="69771" y="74225"/>
                  <a:pt x="74225" y="69771"/>
                  <a:pt x="79738" y="69771"/>
                </a:cubicBezTo>
                <a:lnTo>
                  <a:pt x="149509" y="69771"/>
                </a:lnTo>
                <a:cubicBezTo>
                  <a:pt x="155023" y="69771"/>
                  <a:pt x="159477" y="74225"/>
                  <a:pt x="159477" y="79738"/>
                </a:cubicBezTo>
                <a:cubicBezTo>
                  <a:pt x="159477" y="85252"/>
                  <a:pt x="155023" y="89706"/>
                  <a:pt x="149509" y="89706"/>
                </a:cubicBezTo>
                <a:lnTo>
                  <a:pt x="79738" y="89706"/>
                </a:lnTo>
                <a:cubicBezTo>
                  <a:pt x="74225" y="89706"/>
                  <a:pt x="69771" y="85252"/>
                  <a:pt x="69771" y="79738"/>
                </a:cubicBezTo>
                <a:close/>
                <a:moveTo>
                  <a:pt x="49836" y="129575"/>
                </a:moveTo>
                <a:cubicBezTo>
                  <a:pt x="49836" y="124062"/>
                  <a:pt x="54291" y="119608"/>
                  <a:pt x="59804" y="119608"/>
                </a:cubicBezTo>
                <a:lnTo>
                  <a:pt x="149509" y="119608"/>
                </a:lnTo>
                <a:cubicBezTo>
                  <a:pt x="155023" y="119608"/>
                  <a:pt x="159477" y="124062"/>
                  <a:pt x="159477" y="129575"/>
                </a:cubicBezTo>
                <a:cubicBezTo>
                  <a:pt x="159477" y="135088"/>
                  <a:pt x="155023" y="139542"/>
                  <a:pt x="149509" y="139542"/>
                </a:cubicBezTo>
                <a:lnTo>
                  <a:pt x="59804" y="139542"/>
                </a:lnTo>
                <a:cubicBezTo>
                  <a:pt x="54291" y="139542"/>
                  <a:pt x="49836" y="135088"/>
                  <a:pt x="49836" y="129575"/>
                </a:cubicBezTo>
                <a:close/>
                <a:moveTo>
                  <a:pt x="19935" y="117116"/>
                </a:moveTo>
                <a:cubicBezTo>
                  <a:pt x="26811" y="117116"/>
                  <a:pt x="32394" y="122699"/>
                  <a:pt x="32394" y="129575"/>
                </a:cubicBezTo>
                <a:cubicBezTo>
                  <a:pt x="32394" y="136451"/>
                  <a:pt x="26811" y="142034"/>
                  <a:pt x="19935" y="142034"/>
                </a:cubicBezTo>
                <a:cubicBezTo>
                  <a:pt x="13058" y="142034"/>
                  <a:pt x="7475" y="136451"/>
                  <a:pt x="7475" y="129575"/>
                </a:cubicBezTo>
                <a:cubicBezTo>
                  <a:pt x="7475" y="122699"/>
                  <a:pt x="13058" y="117116"/>
                  <a:pt x="19935" y="11711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733593" y="382744"/>
            <a:ext cx="188182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spc="50" kern="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8954" y="733593"/>
            <a:ext cx="11745465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1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4901" y="1275814"/>
            <a:ext cx="5661426" cy="4242082"/>
          </a:xfrm>
          <a:custGeom>
            <a:avLst/>
            <a:gdLst/>
            <a:ahLst/>
            <a:cxnLst/>
            <a:rect l="l" t="t" r="r" b="b"/>
            <a:pathLst>
              <a:path w="5661426" h="4242082">
                <a:moveTo>
                  <a:pt x="31895" y="0"/>
                </a:moveTo>
                <a:lnTo>
                  <a:pt x="5565724" y="0"/>
                </a:lnTo>
                <a:cubicBezTo>
                  <a:pt x="5618579" y="0"/>
                  <a:pt x="5661426" y="42847"/>
                  <a:pt x="5661426" y="95701"/>
                </a:cubicBezTo>
                <a:lnTo>
                  <a:pt x="5661426" y="4146381"/>
                </a:lnTo>
                <a:cubicBezTo>
                  <a:pt x="5661426" y="4199235"/>
                  <a:pt x="5618579" y="4242082"/>
                  <a:pt x="5565724" y="4242082"/>
                </a:cubicBezTo>
                <a:lnTo>
                  <a:pt x="31895" y="4242082"/>
                </a:lnTo>
                <a:cubicBezTo>
                  <a:pt x="14280" y="4242082"/>
                  <a:pt x="0" y="4227802"/>
                  <a:pt x="0" y="421018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4901" y="1275814"/>
            <a:ext cx="31895" cy="4242082"/>
          </a:xfrm>
          <a:custGeom>
            <a:avLst/>
            <a:gdLst/>
            <a:ahLst/>
            <a:cxnLst/>
            <a:rect l="l" t="t" r="r" b="b"/>
            <a:pathLst>
              <a:path w="31895" h="4242082">
                <a:moveTo>
                  <a:pt x="31895" y="0"/>
                </a:moveTo>
                <a:lnTo>
                  <a:pt x="31895" y="0"/>
                </a:lnTo>
                <a:lnTo>
                  <a:pt x="31895" y="4242082"/>
                </a:lnTo>
                <a:lnTo>
                  <a:pt x="31895" y="4242082"/>
                </a:lnTo>
                <a:cubicBezTo>
                  <a:pt x="14280" y="4242082"/>
                  <a:pt x="0" y="4227802"/>
                  <a:pt x="0" y="421018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542221" y="1467186"/>
            <a:ext cx="5358420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Actions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221" y="1881826"/>
            <a:ext cx="532652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30 Days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221" y="2200780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3855" y="2312413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39869" y="99673"/>
                </a:moveTo>
                <a:lnTo>
                  <a:pt x="7631" y="99673"/>
                </a:lnTo>
                <a:cubicBezTo>
                  <a:pt x="-125" y="99673"/>
                  <a:pt x="-4890" y="91232"/>
                  <a:pt x="-903" y="84566"/>
                </a:cubicBezTo>
                <a:lnTo>
                  <a:pt x="15574" y="57094"/>
                </a:lnTo>
                <a:cubicBezTo>
                  <a:pt x="18284" y="52578"/>
                  <a:pt x="23143" y="49836"/>
                  <a:pt x="28407" y="49836"/>
                </a:cubicBezTo>
                <a:lnTo>
                  <a:pt x="57997" y="49836"/>
                </a:lnTo>
                <a:cubicBezTo>
                  <a:pt x="81701" y="9687"/>
                  <a:pt x="117053" y="7662"/>
                  <a:pt x="140695" y="11120"/>
                </a:cubicBezTo>
                <a:cubicBezTo>
                  <a:pt x="144682" y="11712"/>
                  <a:pt x="147796" y="14826"/>
                  <a:pt x="148357" y="18782"/>
                </a:cubicBezTo>
                <a:cubicBezTo>
                  <a:pt x="151814" y="42423"/>
                  <a:pt x="149790" y="77776"/>
                  <a:pt x="109640" y="101480"/>
                </a:cubicBezTo>
                <a:lnTo>
                  <a:pt x="109640" y="131070"/>
                </a:lnTo>
                <a:cubicBezTo>
                  <a:pt x="109640" y="136334"/>
                  <a:pt x="106899" y="141193"/>
                  <a:pt x="102383" y="143903"/>
                </a:cubicBezTo>
                <a:lnTo>
                  <a:pt x="74910" y="160380"/>
                </a:lnTo>
                <a:cubicBezTo>
                  <a:pt x="68276" y="164367"/>
                  <a:pt x="59804" y="159570"/>
                  <a:pt x="59804" y="151846"/>
                </a:cubicBezTo>
                <a:lnTo>
                  <a:pt x="59804" y="119608"/>
                </a:lnTo>
                <a:cubicBezTo>
                  <a:pt x="59804" y="108612"/>
                  <a:pt x="50864" y="99673"/>
                  <a:pt x="39869" y="99673"/>
                </a:cubicBezTo>
                <a:lnTo>
                  <a:pt x="39838" y="99673"/>
                </a:lnTo>
                <a:close/>
                <a:moveTo>
                  <a:pt x="124591" y="49836"/>
                </a:moveTo>
                <a:cubicBezTo>
                  <a:pt x="124591" y="41585"/>
                  <a:pt x="117892" y="34886"/>
                  <a:pt x="109640" y="34886"/>
                </a:cubicBezTo>
                <a:cubicBezTo>
                  <a:pt x="101389" y="34886"/>
                  <a:pt x="94689" y="41585"/>
                  <a:pt x="94689" y="49836"/>
                </a:cubicBezTo>
                <a:cubicBezTo>
                  <a:pt x="94689" y="58088"/>
                  <a:pt x="101389" y="64787"/>
                  <a:pt x="109640" y="64787"/>
                </a:cubicBezTo>
                <a:cubicBezTo>
                  <a:pt x="117892" y="64787"/>
                  <a:pt x="124591" y="58088"/>
                  <a:pt x="124591" y="49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547" y="2200780"/>
            <a:ext cx="4824173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 Pilot Pricing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2547" y="2455942"/>
            <a:ext cx="4816199" cy="41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$95 weekend / $60 weekday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remainder of season to test market response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221" y="2998164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3855" y="3109797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9967" y="9967"/>
                </a:moveTo>
                <a:cubicBezTo>
                  <a:pt x="15480" y="9967"/>
                  <a:pt x="19935" y="14421"/>
                  <a:pt x="19935" y="19935"/>
                </a:cubicBezTo>
                <a:lnTo>
                  <a:pt x="19935" y="124591"/>
                </a:lnTo>
                <a:cubicBezTo>
                  <a:pt x="19935" y="127332"/>
                  <a:pt x="22177" y="129575"/>
                  <a:pt x="24918" y="129575"/>
                </a:cubicBezTo>
                <a:lnTo>
                  <a:pt x="149509" y="129575"/>
                </a:lnTo>
                <a:cubicBezTo>
                  <a:pt x="155023" y="129575"/>
                  <a:pt x="159477" y="134029"/>
                  <a:pt x="159477" y="139542"/>
                </a:cubicBezTo>
                <a:cubicBezTo>
                  <a:pt x="159477" y="145055"/>
                  <a:pt x="155023" y="149509"/>
                  <a:pt x="149509" y="149509"/>
                </a:cubicBezTo>
                <a:lnTo>
                  <a:pt x="24918" y="149509"/>
                </a:lnTo>
                <a:cubicBezTo>
                  <a:pt x="11151" y="149509"/>
                  <a:pt x="0" y="138359"/>
                  <a:pt x="0" y="124591"/>
                </a:cubicBezTo>
                <a:lnTo>
                  <a:pt x="0" y="19935"/>
                </a:lnTo>
                <a:cubicBezTo>
                  <a:pt x="0" y="14421"/>
                  <a:pt x="4454" y="9967"/>
                  <a:pt x="9967" y="9967"/>
                </a:cubicBezTo>
                <a:close/>
                <a:moveTo>
                  <a:pt x="74755" y="29902"/>
                </a:moveTo>
                <a:cubicBezTo>
                  <a:pt x="76842" y="29902"/>
                  <a:pt x="78835" y="30774"/>
                  <a:pt x="80268" y="32331"/>
                </a:cubicBezTo>
                <a:lnTo>
                  <a:pt x="102414" y="56471"/>
                </a:lnTo>
                <a:lnTo>
                  <a:pt x="116804" y="42050"/>
                </a:lnTo>
                <a:cubicBezTo>
                  <a:pt x="119732" y="39122"/>
                  <a:pt x="124467" y="39122"/>
                  <a:pt x="127363" y="42050"/>
                </a:cubicBezTo>
                <a:lnTo>
                  <a:pt x="147298" y="61984"/>
                </a:lnTo>
                <a:cubicBezTo>
                  <a:pt x="148700" y="63386"/>
                  <a:pt x="149478" y="65286"/>
                  <a:pt x="149478" y="67279"/>
                </a:cubicBezTo>
                <a:lnTo>
                  <a:pt x="149478" y="102165"/>
                </a:lnTo>
                <a:cubicBezTo>
                  <a:pt x="149478" y="106307"/>
                  <a:pt x="146146" y="109640"/>
                  <a:pt x="142003" y="109640"/>
                </a:cubicBezTo>
                <a:lnTo>
                  <a:pt x="47314" y="109640"/>
                </a:lnTo>
                <a:cubicBezTo>
                  <a:pt x="43171" y="109640"/>
                  <a:pt x="39838" y="106307"/>
                  <a:pt x="39838" y="102165"/>
                </a:cubicBezTo>
                <a:lnTo>
                  <a:pt x="39838" y="67279"/>
                </a:lnTo>
                <a:cubicBezTo>
                  <a:pt x="39838" y="65410"/>
                  <a:pt x="40554" y="63604"/>
                  <a:pt x="41800" y="62233"/>
                </a:cubicBezTo>
                <a:lnTo>
                  <a:pt x="69210" y="32331"/>
                </a:lnTo>
                <a:cubicBezTo>
                  <a:pt x="70612" y="30774"/>
                  <a:pt x="72637" y="29902"/>
                  <a:pt x="74724" y="2990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2547" y="2998164"/>
            <a:ext cx="3564306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2547" y="3253326"/>
            <a:ext cx="3556332" cy="20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visitor volume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 responses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weekly basis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221" y="3588228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3822" y="3699861"/>
            <a:ext cx="139542" cy="159477"/>
          </a:xfrm>
          <a:custGeom>
            <a:avLst/>
            <a:gdLst/>
            <a:ahLst/>
            <a:cxnLst/>
            <a:rect l="l" t="t" r="r" b="b"/>
            <a:pathLst>
              <a:path w="139542" h="159477">
                <a:moveTo>
                  <a:pt x="89706" y="0"/>
                </a:moveTo>
                <a:lnTo>
                  <a:pt x="39869" y="0"/>
                </a:lnTo>
                <a:cubicBezTo>
                  <a:pt x="34356" y="0"/>
                  <a:pt x="29902" y="4454"/>
                  <a:pt x="29902" y="9967"/>
                </a:cubicBezTo>
                <a:cubicBezTo>
                  <a:pt x="29902" y="15480"/>
                  <a:pt x="34356" y="19935"/>
                  <a:pt x="39869" y="19935"/>
                </a:cubicBezTo>
                <a:lnTo>
                  <a:pt x="39869" y="67124"/>
                </a:lnTo>
                <a:lnTo>
                  <a:pt x="2336" y="132783"/>
                </a:lnTo>
                <a:cubicBezTo>
                  <a:pt x="810" y="135493"/>
                  <a:pt x="0" y="138514"/>
                  <a:pt x="0" y="141629"/>
                </a:cubicBezTo>
                <a:cubicBezTo>
                  <a:pt x="0" y="151503"/>
                  <a:pt x="7974" y="159477"/>
                  <a:pt x="17848" y="159477"/>
                </a:cubicBezTo>
                <a:lnTo>
                  <a:pt x="121694" y="159477"/>
                </a:lnTo>
                <a:cubicBezTo>
                  <a:pt x="131537" y="159477"/>
                  <a:pt x="139542" y="151503"/>
                  <a:pt x="139542" y="141629"/>
                </a:cubicBezTo>
                <a:cubicBezTo>
                  <a:pt x="139542" y="138514"/>
                  <a:pt x="138732" y="135462"/>
                  <a:pt x="137206" y="132783"/>
                </a:cubicBezTo>
                <a:lnTo>
                  <a:pt x="99673" y="67124"/>
                </a:lnTo>
                <a:lnTo>
                  <a:pt x="99673" y="19935"/>
                </a:lnTo>
                <a:cubicBezTo>
                  <a:pt x="105186" y="19935"/>
                  <a:pt x="109640" y="15480"/>
                  <a:pt x="109640" y="9967"/>
                </a:cubicBezTo>
                <a:cubicBezTo>
                  <a:pt x="109640" y="4454"/>
                  <a:pt x="105186" y="0"/>
                  <a:pt x="99673" y="0"/>
                </a:cubicBezTo>
                <a:lnTo>
                  <a:pt x="89706" y="0"/>
                </a:lnTo>
                <a:close/>
                <a:moveTo>
                  <a:pt x="59804" y="67124"/>
                </a:moveTo>
                <a:lnTo>
                  <a:pt x="59804" y="19935"/>
                </a:lnTo>
                <a:lnTo>
                  <a:pt x="79738" y="19935"/>
                </a:lnTo>
                <a:lnTo>
                  <a:pt x="79738" y="67124"/>
                </a:lnTo>
                <a:cubicBezTo>
                  <a:pt x="79738" y="70581"/>
                  <a:pt x="80642" y="74007"/>
                  <a:pt x="82355" y="77029"/>
                </a:cubicBezTo>
                <a:lnTo>
                  <a:pt x="95312" y="99673"/>
                </a:lnTo>
                <a:lnTo>
                  <a:pt x="44230" y="99673"/>
                </a:lnTo>
                <a:lnTo>
                  <a:pt x="57187" y="77029"/>
                </a:lnTo>
                <a:cubicBezTo>
                  <a:pt x="58901" y="74007"/>
                  <a:pt x="59804" y="70612"/>
                  <a:pt x="59804" y="6712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2547" y="3588228"/>
            <a:ext cx="406665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 Dynamic Pricing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2547" y="3843390"/>
            <a:ext cx="4058684" cy="20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advance-purchase discounts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peak/off-peak pricing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1612" y="5681363"/>
            <a:ext cx="5674716" cy="1177470"/>
          </a:xfrm>
          <a:custGeom>
            <a:avLst/>
            <a:gdLst/>
            <a:ahLst/>
            <a:cxnLst/>
            <a:rect l="l" t="t" r="r" b="b"/>
            <a:pathLst>
              <a:path w="5674716" h="1177470">
                <a:moveTo>
                  <a:pt x="95681" y="0"/>
                </a:moveTo>
                <a:lnTo>
                  <a:pt x="5579034" y="0"/>
                </a:lnTo>
                <a:cubicBezTo>
                  <a:pt x="5631878" y="0"/>
                  <a:pt x="5674716" y="42838"/>
                  <a:pt x="5674716" y="95681"/>
                </a:cubicBezTo>
                <a:lnTo>
                  <a:pt x="5674716" y="1081789"/>
                </a:lnTo>
                <a:cubicBezTo>
                  <a:pt x="5674716" y="1134632"/>
                  <a:pt x="5631878" y="1177470"/>
                  <a:pt x="5579034" y="1177470"/>
                </a:cubicBezTo>
                <a:lnTo>
                  <a:pt x="95681" y="1177470"/>
                </a:lnTo>
                <a:cubicBezTo>
                  <a:pt x="42838" y="1177470"/>
                  <a:pt x="0" y="1134632"/>
                  <a:pt x="0" y="1081789"/>
                </a:cubicBezTo>
                <a:lnTo>
                  <a:pt x="0" y="95681"/>
                </a:lnTo>
                <a:cubicBezTo>
                  <a:pt x="0" y="42873"/>
                  <a:pt x="42873" y="0"/>
                  <a:pt x="95681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5445" y="5891339"/>
            <a:ext cx="119608" cy="191372"/>
          </a:xfrm>
          <a:custGeom>
            <a:avLst/>
            <a:gdLst/>
            <a:ahLst/>
            <a:cxnLst/>
            <a:rect l="l" t="t" r="r" b="b"/>
            <a:pathLst>
              <a:path w="119608" h="191372">
                <a:moveTo>
                  <a:pt x="50833" y="8971"/>
                </a:moveTo>
                <a:cubicBezTo>
                  <a:pt x="50833" y="3999"/>
                  <a:pt x="54833" y="0"/>
                  <a:pt x="59804" y="0"/>
                </a:cubicBezTo>
                <a:cubicBezTo>
                  <a:pt x="64775" y="0"/>
                  <a:pt x="68774" y="3999"/>
                  <a:pt x="68774" y="8971"/>
                </a:cubicBezTo>
                <a:lnTo>
                  <a:pt x="68774" y="23922"/>
                </a:lnTo>
                <a:lnTo>
                  <a:pt x="89706" y="23922"/>
                </a:lnTo>
                <a:cubicBezTo>
                  <a:pt x="96321" y="23922"/>
                  <a:pt x="101666" y="29266"/>
                  <a:pt x="101666" y="35882"/>
                </a:cubicBezTo>
                <a:cubicBezTo>
                  <a:pt x="101666" y="42498"/>
                  <a:pt x="96321" y="47843"/>
                  <a:pt x="89706" y="47843"/>
                </a:cubicBezTo>
                <a:lnTo>
                  <a:pt x="46759" y="47843"/>
                </a:lnTo>
                <a:cubicBezTo>
                  <a:pt x="37452" y="47843"/>
                  <a:pt x="29902" y="55393"/>
                  <a:pt x="29902" y="64700"/>
                </a:cubicBezTo>
                <a:cubicBezTo>
                  <a:pt x="29902" y="73110"/>
                  <a:pt x="36069" y="80212"/>
                  <a:pt x="44367" y="81408"/>
                </a:cubicBezTo>
                <a:lnTo>
                  <a:pt x="78605" y="86304"/>
                </a:lnTo>
                <a:cubicBezTo>
                  <a:pt x="98714" y="89182"/>
                  <a:pt x="113627" y="106376"/>
                  <a:pt x="113627" y="126672"/>
                </a:cubicBezTo>
                <a:cubicBezTo>
                  <a:pt x="113627" y="149210"/>
                  <a:pt x="95350" y="167451"/>
                  <a:pt x="72848" y="167451"/>
                </a:cubicBezTo>
                <a:lnTo>
                  <a:pt x="68774" y="167451"/>
                </a:lnTo>
                <a:lnTo>
                  <a:pt x="68774" y="182402"/>
                </a:lnTo>
                <a:cubicBezTo>
                  <a:pt x="68774" y="187373"/>
                  <a:pt x="64775" y="191372"/>
                  <a:pt x="59804" y="191372"/>
                </a:cubicBezTo>
                <a:cubicBezTo>
                  <a:pt x="54833" y="191372"/>
                  <a:pt x="50833" y="187373"/>
                  <a:pt x="50833" y="182402"/>
                </a:cubicBezTo>
                <a:lnTo>
                  <a:pt x="50833" y="167451"/>
                </a:lnTo>
                <a:lnTo>
                  <a:pt x="23922" y="167451"/>
                </a:lnTo>
                <a:cubicBezTo>
                  <a:pt x="17306" y="167451"/>
                  <a:pt x="11961" y="162106"/>
                  <a:pt x="11961" y="155490"/>
                </a:cubicBezTo>
                <a:cubicBezTo>
                  <a:pt x="11961" y="148874"/>
                  <a:pt x="17306" y="143529"/>
                  <a:pt x="23922" y="143529"/>
                </a:cubicBezTo>
                <a:lnTo>
                  <a:pt x="72848" y="143529"/>
                </a:lnTo>
                <a:cubicBezTo>
                  <a:pt x="82155" y="143529"/>
                  <a:pt x="89706" y="135979"/>
                  <a:pt x="89706" y="126672"/>
                </a:cubicBezTo>
                <a:cubicBezTo>
                  <a:pt x="89706" y="118262"/>
                  <a:pt x="83538" y="111160"/>
                  <a:pt x="75241" y="109964"/>
                </a:cubicBezTo>
                <a:lnTo>
                  <a:pt x="41003" y="105068"/>
                </a:lnTo>
                <a:cubicBezTo>
                  <a:pt x="20894" y="102227"/>
                  <a:pt x="5980" y="84996"/>
                  <a:pt x="5980" y="64700"/>
                </a:cubicBezTo>
                <a:cubicBezTo>
                  <a:pt x="5980" y="42199"/>
                  <a:pt x="24258" y="23922"/>
                  <a:pt x="46759" y="23922"/>
                </a:cubicBezTo>
                <a:lnTo>
                  <a:pt x="50833" y="23922"/>
                </a:lnTo>
                <a:lnTo>
                  <a:pt x="50833" y="897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543" y="5875392"/>
            <a:ext cx="932939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5642" y="6194345"/>
            <a:ext cx="5358420" cy="47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confirms Big Mountain can capture </a:t>
            </a:r>
            <a:pPr>
              <a:lnSpc>
                <a:spcPct val="140000"/>
              </a:lnSpc>
            </a:pPr>
            <a:r>
              <a:rPr lang="en-US" sz="113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$3-5M additional annual revenue</a:t>
            </a:r>
            <a:pPr>
              <a:lnSpc>
                <a:spcPct val="140000"/>
              </a:lnSpc>
            </a:pPr>
            <a:r>
              <a:rPr lang="en-US" sz="113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strategic pricing while maintaining competitive position.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188" y="1275814"/>
            <a:ext cx="5677373" cy="3891233"/>
          </a:xfrm>
          <a:custGeom>
            <a:avLst/>
            <a:gdLst/>
            <a:ahLst/>
            <a:cxnLst/>
            <a:rect l="l" t="t" r="r" b="b"/>
            <a:pathLst>
              <a:path w="5677373" h="3891233">
                <a:moveTo>
                  <a:pt x="95685" y="0"/>
                </a:moveTo>
                <a:lnTo>
                  <a:pt x="5581688" y="0"/>
                </a:lnTo>
                <a:cubicBezTo>
                  <a:pt x="5634534" y="0"/>
                  <a:pt x="5677373" y="42840"/>
                  <a:pt x="5677373" y="95685"/>
                </a:cubicBezTo>
                <a:lnTo>
                  <a:pt x="5677373" y="3795548"/>
                </a:lnTo>
                <a:cubicBezTo>
                  <a:pt x="5677373" y="3848394"/>
                  <a:pt x="5634534" y="3891233"/>
                  <a:pt x="5581688" y="3891233"/>
                </a:cubicBezTo>
                <a:lnTo>
                  <a:pt x="95685" y="3891233"/>
                </a:lnTo>
                <a:cubicBezTo>
                  <a:pt x="42840" y="3891233"/>
                  <a:pt x="0" y="3848394"/>
                  <a:pt x="0" y="3795548"/>
                </a:cubicBezTo>
                <a:lnTo>
                  <a:pt x="0" y="95685"/>
                </a:lnTo>
                <a:cubicBezTo>
                  <a:pt x="0" y="42840"/>
                  <a:pt x="42840" y="0"/>
                  <a:pt x="95685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82560" y="1467186"/>
            <a:ext cx="5390315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8508" y="1881826"/>
            <a:ext cx="5278681" cy="1323657"/>
          </a:xfrm>
          <a:custGeom>
            <a:avLst/>
            <a:gdLst/>
            <a:ahLst/>
            <a:cxnLst/>
            <a:rect l="l" t="t" r="r" b="b"/>
            <a:pathLst>
              <a:path w="5278681" h="1323657">
                <a:moveTo>
                  <a:pt x="31895" y="0"/>
                </a:moveTo>
                <a:lnTo>
                  <a:pt x="5214894" y="0"/>
                </a:lnTo>
                <a:cubicBezTo>
                  <a:pt x="5250123" y="0"/>
                  <a:pt x="5278681" y="28558"/>
                  <a:pt x="5278681" y="63787"/>
                </a:cubicBezTo>
                <a:lnTo>
                  <a:pt x="5278681" y="1259870"/>
                </a:lnTo>
                <a:cubicBezTo>
                  <a:pt x="5278681" y="1295099"/>
                  <a:pt x="5250123" y="1323657"/>
                  <a:pt x="5214894" y="1323657"/>
                </a:cubicBezTo>
                <a:lnTo>
                  <a:pt x="31895" y="1323657"/>
                </a:lnTo>
                <a:cubicBezTo>
                  <a:pt x="14280" y="1323657"/>
                  <a:pt x="0" y="1309377"/>
                  <a:pt x="0" y="1291762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98508" y="1881826"/>
            <a:ext cx="31895" cy="1323657"/>
          </a:xfrm>
          <a:custGeom>
            <a:avLst/>
            <a:gdLst/>
            <a:ahLst/>
            <a:cxnLst/>
            <a:rect l="l" t="t" r="r" b="b"/>
            <a:pathLst>
              <a:path w="31895" h="1323657">
                <a:moveTo>
                  <a:pt x="31895" y="0"/>
                </a:moveTo>
                <a:lnTo>
                  <a:pt x="31895" y="0"/>
                </a:lnTo>
                <a:lnTo>
                  <a:pt x="31895" y="1323657"/>
                </a:lnTo>
                <a:lnTo>
                  <a:pt x="31895" y="1323657"/>
                </a:lnTo>
                <a:cubicBezTo>
                  <a:pt x="14280" y="1323657"/>
                  <a:pt x="0" y="1309377"/>
                  <a:pt x="0" y="1291762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97853" y="2057250"/>
            <a:ext cx="191372" cy="191372"/>
          </a:xfrm>
          <a:custGeom>
            <a:avLst/>
            <a:gdLst/>
            <a:ahLst/>
            <a:cxnLst/>
            <a:rect l="l" t="t" r="r" b="b"/>
            <a:pathLst>
              <a:path w="191372" h="191372">
                <a:moveTo>
                  <a:pt x="95686" y="191372"/>
                </a:moveTo>
                <a:cubicBezTo>
                  <a:pt x="148497" y="191372"/>
                  <a:pt x="191372" y="148497"/>
                  <a:pt x="191372" y="95686"/>
                </a:cubicBezTo>
                <a:cubicBezTo>
                  <a:pt x="191372" y="42875"/>
                  <a:pt x="148497" y="0"/>
                  <a:pt x="95686" y="0"/>
                </a:cubicBezTo>
                <a:cubicBezTo>
                  <a:pt x="42875" y="0"/>
                  <a:pt x="0" y="42875"/>
                  <a:pt x="0" y="95686"/>
                </a:cubicBezTo>
                <a:cubicBezTo>
                  <a:pt x="0" y="148497"/>
                  <a:pt x="42875" y="191372"/>
                  <a:pt x="95686" y="191372"/>
                </a:cubicBezTo>
                <a:close/>
                <a:moveTo>
                  <a:pt x="86716" y="128578"/>
                </a:moveTo>
                <a:lnTo>
                  <a:pt x="86716" y="104657"/>
                </a:lnTo>
                <a:lnTo>
                  <a:pt x="62794" y="104657"/>
                </a:lnTo>
                <a:cubicBezTo>
                  <a:pt x="57823" y="104657"/>
                  <a:pt x="53823" y="100657"/>
                  <a:pt x="53823" y="95686"/>
                </a:cubicBezTo>
                <a:cubicBezTo>
                  <a:pt x="53823" y="90715"/>
                  <a:pt x="57823" y="86716"/>
                  <a:pt x="62794" y="86716"/>
                </a:cubicBezTo>
                <a:lnTo>
                  <a:pt x="86716" y="86716"/>
                </a:lnTo>
                <a:lnTo>
                  <a:pt x="86716" y="62794"/>
                </a:lnTo>
                <a:cubicBezTo>
                  <a:pt x="86716" y="57823"/>
                  <a:pt x="90715" y="53823"/>
                  <a:pt x="95686" y="53823"/>
                </a:cubicBezTo>
                <a:cubicBezTo>
                  <a:pt x="100657" y="53823"/>
                  <a:pt x="104657" y="57823"/>
                  <a:pt x="104657" y="62794"/>
                </a:cubicBezTo>
                <a:lnTo>
                  <a:pt x="104657" y="86716"/>
                </a:lnTo>
                <a:lnTo>
                  <a:pt x="128578" y="86716"/>
                </a:lnTo>
                <a:cubicBezTo>
                  <a:pt x="133549" y="86716"/>
                  <a:pt x="137549" y="90715"/>
                  <a:pt x="137549" y="95686"/>
                </a:cubicBezTo>
                <a:cubicBezTo>
                  <a:pt x="137549" y="100657"/>
                  <a:pt x="133549" y="104657"/>
                  <a:pt x="128578" y="104657"/>
                </a:cubicBezTo>
                <a:lnTo>
                  <a:pt x="104657" y="104657"/>
                </a:lnTo>
                <a:lnTo>
                  <a:pt x="104657" y="128578"/>
                </a:lnTo>
                <a:cubicBezTo>
                  <a:pt x="104657" y="133549"/>
                  <a:pt x="100657" y="137549"/>
                  <a:pt x="95686" y="137549"/>
                </a:cubicBezTo>
                <a:cubicBezTo>
                  <a:pt x="90715" y="137549"/>
                  <a:pt x="86716" y="133549"/>
                  <a:pt x="86716" y="12857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8833" y="2041303"/>
            <a:ext cx="1267840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Investment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73932" y="2360256"/>
            <a:ext cx="5007571" cy="20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fast quad lift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unlock additional pricing power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73932" y="2663262"/>
            <a:ext cx="4943780" cy="382744"/>
          </a:xfrm>
          <a:custGeom>
            <a:avLst/>
            <a:gdLst/>
            <a:ahLst/>
            <a:cxnLst/>
            <a:rect l="l" t="t" r="r" b="b"/>
            <a:pathLst>
              <a:path w="4943780" h="382744">
                <a:moveTo>
                  <a:pt x="31894" y="0"/>
                </a:moveTo>
                <a:lnTo>
                  <a:pt x="4911886" y="0"/>
                </a:lnTo>
                <a:cubicBezTo>
                  <a:pt x="4929501" y="0"/>
                  <a:pt x="4943780" y="14279"/>
                  <a:pt x="4943780" y="31894"/>
                </a:cubicBezTo>
                <a:lnTo>
                  <a:pt x="4943780" y="350850"/>
                </a:lnTo>
                <a:cubicBezTo>
                  <a:pt x="4943780" y="368465"/>
                  <a:pt x="4929501" y="382744"/>
                  <a:pt x="4911886" y="382744"/>
                </a:cubicBezTo>
                <a:lnTo>
                  <a:pt x="31894" y="382744"/>
                </a:lnTo>
                <a:cubicBezTo>
                  <a:pt x="14279" y="382744"/>
                  <a:pt x="0" y="368465"/>
                  <a:pt x="0" y="350850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669618" y="2758948"/>
            <a:ext cx="4816199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suggests: </a:t>
            </a:r>
            <a:pPr>
              <a:lnSpc>
                <a:spcPct val="13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+$4-6 price premium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8508" y="3333065"/>
            <a:ext cx="5278681" cy="1642611"/>
          </a:xfrm>
          <a:custGeom>
            <a:avLst/>
            <a:gdLst/>
            <a:ahLst/>
            <a:cxnLst/>
            <a:rect l="l" t="t" r="r" b="b"/>
            <a:pathLst>
              <a:path w="5278681" h="1642611">
                <a:moveTo>
                  <a:pt x="31895" y="0"/>
                </a:moveTo>
                <a:lnTo>
                  <a:pt x="5214899" y="0"/>
                </a:lnTo>
                <a:cubicBezTo>
                  <a:pt x="5250125" y="0"/>
                  <a:pt x="5278681" y="28556"/>
                  <a:pt x="5278681" y="63783"/>
                </a:cubicBezTo>
                <a:lnTo>
                  <a:pt x="5278681" y="1578828"/>
                </a:lnTo>
                <a:cubicBezTo>
                  <a:pt x="5278681" y="1614054"/>
                  <a:pt x="5250125" y="1642611"/>
                  <a:pt x="5214899" y="1642611"/>
                </a:cubicBezTo>
                <a:lnTo>
                  <a:pt x="31895" y="1642611"/>
                </a:lnTo>
                <a:cubicBezTo>
                  <a:pt x="14280" y="1642611"/>
                  <a:pt x="0" y="1628331"/>
                  <a:pt x="0" y="161071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98508" y="3333065"/>
            <a:ext cx="31895" cy="1642611"/>
          </a:xfrm>
          <a:custGeom>
            <a:avLst/>
            <a:gdLst/>
            <a:ahLst/>
            <a:cxnLst/>
            <a:rect l="l" t="t" r="r" b="b"/>
            <a:pathLst>
              <a:path w="31895" h="1642611">
                <a:moveTo>
                  <a:pt x="31895" y="0"/>
                </a:moveTo>
                <a:lnTo>
                  <a:pt x="31895" y="0"/>
                </a:lnTo>
                <a:lnTo>
                  <a:pt x="31895" y="1642611"/>
                </a:lnTo>
                <a:lnTo>
                  <a:pt x="31895" y="1642611"/>
                </a:lnTo>
                <a:cubicBezTo>
                  <a:pt x="14280" y="1642611"/>
                  <a:pt x="0" y="1628331"/>
                  <a:pt x="0" y="161071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97853" y="3508489"/>
            <a:ext cx="191372" cy="191372"/>
          </a:xfrm>
          <a:custGeom>
            <a:avLst/>
            <a:gdLst/>
            <a:ahLst/>
            <a:cxnLst/>
            <a:rect l="l" t="t" r="r" b="b"/>
            <a:pathLst>
              <a:path w="191372" h="191372">
                <a:moveTo>
                  <a:pt x="86902" y="1944"/>
                </a:moveTo>
                <a:cubicBezTo>
                  <a:pt x="92472" y="-635"/>
                  <a:pt x="98901" y="-635"/>
                  <a:pt x="104470" y="1944"/>
                </a:cubicBezTo>
                <a:lnTo>
                  <a:pt x="186177" y="39695"/>
                </a:lnTo>
                <a:cubicBezTo>
                  <a:pt x="189354" y="41152"/>
                  <a:pt x="191372" y="44330"/>
                  <a:pt x="191372" y="47843"/>
                </a:cubicBezTo>
                <a:cubicBezTo>
                  <a:pt x="191372" y="51357"/>
                  <a:pt x="189354" y="54534"/>
                  <a:pt x="186177" y="55991"/>
                </a:cubicBezTo>
                <a:lnTo>
                  <a:pt x="104470" y="93742"/>
                </a:lnTo>
                <a:cubicBezTo>
                  <a:pt x="98901" y="96321"/>
                  <a:pt x="92472" y="96321"/>
                  <a:pt x="86902" y="93742"/>
                </a:cubicBezTo>
                <a:lnTo>
                  <a:pt x="5195" y="55991"/>
                </a:lnTo>
                <a:cubicBezTo>
                  <a:pt x="2018" y="54496"/>
                  <a:pt x="0" y="51319"/>
                  <a:pt x="0" y="47843"/>
                </a:cubicBezTo>
                <a:cubicBezTo>
                  <a:pt x="0" y="44367"/>
                  <a:pt x="2018" y="41152"/>
                  <a:pt x="5195" y="39695"/>
                </a:cubicBezTo>
                <a:lnTo>
                  <a:pt x="86902" y="1944"/>
                </a:lnTo>
                <a:close/>
                <a:moveTo>
                  <a:pt x="17979" y="81632"/>
                </a:moveTo>
                <a:lnTo>
                  <a:pt x="79390" y="110002"/>
                </a:lnTo>
                <a:cubicBezTo>
                  <a:pt x="89743" y="114786"/>
                  <a:pt x="101666" y="114786"/>
                  <a:pt x="112020" y="110002"/>
                </a:cubicBezTo>
                <a:lnTo>
                  <a:pt x="173431" y="81632"/>
                </a:lnTo>
                <a:lnTo>
                  <a:pt x="186177" y="87538"/>
                </a:lnTo>
                <a:cubicBezTo>
                  <a:pt x="189354" y="88996"/>
                  <a:pt x="191372" y="92173"/>
                  <a:pt x="191372" y="95686"/>
                </a:cubicBezTo>
                <a:cubicBezTo>
                  <a:pt x="191372" y="99200"/>
                  <a:pt x="189354" y="102377"/>
                  <a:pt x="186177" y="103834"/>
                </a:cubicBezTo>
                <a:lnTo>
                  <a:pt x="104470" y="141585"/>
                </a:lnTo>
                <a:cubicBezTo>
                  <a:pt x="98901" y="144165"/>
                  <a:pt x="92472" y="144165"/>
                  <a:pt x="86902" y="141585"/>
                </a:cubicBezTo>
                <a:lnTo>
                  <a:pt x="5195" y="103834"/>
                </a:lnTo>
                <a:cubicBezTo>
                  <a:pt x="2018" y="102339"/>
                  <a:pt x="0" y="99162"/>
                  <a:pt x="0" y="95686"/>
                </a:cubicBezTo>
                <a:cubicBezTo>
                  <a:pt x="0" y="92210"/>
                  <a:pt x="2018" y="88996"/>
                  <a:pt x="5195" y="87538"/>
                </a:cubicBezTo>
                <a:lnTo>
                  <a:pt x="17941" y="81632"/>
                </a:lnTo>
                <a:close/>
                <a:moveTo>
                  <a:pt x="5195" y="135381"/>
                </a:moveTo>
                <a:lnTo>
                  <a:pt x="17941" y="129475"/>
                </a:lnTo>
                <a:lnTo>
                  <a:pt x="79352" y="157845"/>
                </a:lnTo>
                <a:cubicBezTo>
                  <a:pt x="89706" y="162629"/>
                  <a:pt x="101629" y="162629"/>
                  <a:pt x="111983" y="157845"/>
                </a:cubicBezTo>
                <a:lnTo>
                  <a:pt x="173394" y="129475"/>
                </a:lnTo>
                <a:lnTo>
                  <a:pt x="186139" y="135381"/>
                </a:lnTo>
                <a:cubicBezTo>
                  <a:pt x="189316" y="136839"/>
                  <a:pt x="191335" y="140016"/>
                  <a:pt x="191335" y="143529"/>
                </a:cubicBezTo>
                <a:cubicBezTo>
                  <a:pt x="191335" y="147043"/>
                  <a:pt x="189316" y="150220"/>
                  <a:pt x="186139" y="151677"/>
                </a:cubicBezTo>
                <a:lnTo>
                  <a:pt x="104432" y="189429"/>
                </a:lnTo>
                <a:cubicBezTo>
                  <a:pt x="98863" y="192008"/>
                  <a:pt x="92434" y="192008"/>
                  <a:pt x="86865" y="189429"/>
                </a:cubicBezTo>
                <a:lnTo>
                  <a:pt x="5195" y="151677"/>
                </a:lnTo>
                <a:cubicBezTo>
                  <a:pt x="2018" y="150182"/>
                  <a:pt x="0" y="147005"/>
                  <a:pt x="0" y="143529"/>
                </a:cubicBezTo>
                <a:cubicBezTo>
                  <a:pt x="0" y="140053"/>
                  <a:pt x="2018" y="136839"/>
                  <a:pt x="5195" y="1353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6908833" y="3492542"/>
            <a:ext cx="1475160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 Strategy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73932" y="3811495"/>
            <a:ext cx="5007571" cy="20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pPr>
              <a:lnSpc>
                <a:spcPct val="140000"/>
              </a:lnSpc>
            </a:pP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pricing structure</a:t>
            </a:r>
            <a:pPr>
              <a:lnSpc>
                <a:spcPct val="14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model coefficients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97853" y="4146396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108345" y="17468"/>
                </a:moveTo>
                <a:cubicBezTo>
                  <a:pt x="111908" y="20059"/>
                  <a:pt x="112705" y="25043"/>
                  <a:pt x="110114" y="28606"/>
                </a:cubicBezTo>
                <a:lnTo>
                  <a:pt x="46323" y="116318"/>
                </a:lnTo>
                <a:cubicBezTo>
                  <a:pt x="44953" y="118212"/>
                  <a:pt x="42834" y="119383"/>
                  <a:pt x="40492" y="119583"/>
                </a:cubicBezTo>
                <a:cubicBezTo>
                  <a:pt x="38150" y="119782"/>
                  <a:pt x="35882" y="118910"/>
                  <a:pt x="34238" y="117265"/>
                </a:cubicBezTo>
                <a:lnTo>
                  <a:pt x="2342" y="85370"/>
                </a:lnTo>
                <a:cubicBezTo>
                  <a:pt x="-772" y="82255"/>
                  <a:pt x="-772" y="77197"/>
                  <a:pt x="2342" y="74082"/>
                </a:cubicBezTo>
                <a:cubicBezTo>
                  <a:pt x="5457" y="70967"/>
                  <a:pt x="10516" y="70967"/>
                  <a:pt x="13630" y="74082"/>
                </a:cubicBezTo>
                <a:lnTo>
                  <a:pt x="38922" y="99374"/>
                </a:lnTo>
                <a:lnTo>
                  <a:pt x="97231" y="19212"/>
                </a:lnTo>
                <a:cubicBezTo>
                  <a:pt x="99822" y="15649"/>
                  <a:pt x="104806" y="14851"/>
                  <a:pt x="108369" y="1744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797199" y="4114501"/>
            <a:ext cx="165058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 purchase discounts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97853" y="4401559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108345" y="17468"/>
                </a:moveTo>
                <a:cubicBezTo>
                  <a:pt x="111908" y="20059"/>
                  <a:pt x="112705" y="25043"/>
                  <a:pt x="110114" y="28606"/>
                </a:cubicBezTo>
                <a:lnTo>
                  <a:pt x="46323" y="116318"/>
                </a:lnTo>
                <a:cubicBezTo>
                  <a:pt x="44953" y="118212"/>
                  <a:pt x="42834" y="119383"/>
                  <a:pt x="40492" y="119583"/>
                </a:cubicBezTo>
                <a:cubicBezTo>
                  <a:pt x="38150" y="119782"/>
                  <a:pt x="35882" y="118910"/>
                  <a:pt x="34238" y="117265"/>
                </a:cubicBezTo>
                <a:lnTo>
                  <a:pt x="2342" y="85370"/>
                </a:lnTo>
                <a:cubicBezTo>
                  <a:pt x="-772" y="82255"/>
                  <a:pt x="-772" y="77197"/>
                  <a:pt x="2342" y="74082"/>
                </a:cubicBezTo>
                <a:cubicBezTo>
                  <a:pt x="5457" y="70967"/>
                  <a:pt x="10516" y="70967"/>
                  <a:pt x="13630" y="74082"/>
                </a:cubicBezTo>
                <a:lnTo>
                  <a:pt x="38922" y="99374"/>
                </a:lnTo>
                <a:lnTo>
                  <a:pt x="97231" y="19212"/>
                </a:lnTo>
                <a:cubicBezTo>
                  <a:pt x="99822" y="15649"/>
                  <a:pt x="104806" y="14851"/>
                  <a:pt x="108369" y="1744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Text 41"/>
          <p:cNvSpPr/>
          <p:nvPr/>
        </p:nvSpPr>
        <p:spPr>
          <a:xfrm>
            <a:off x="6797199" y="4369664"/>
            <a:ext cx="131568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vs. off-peak rates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97853" y="4656722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108345" y="17468"/>
                </a:moveTo>
                <a:cubicBezTo>
                  <a:pt x="111908" y="20059"/>
                  <a:pt x="112705" y="25043"/>
                  <a:pt x="110114" y="28606"/>
                </a:cubicBezTo>
                <a:lnTo>
                  <a:pt x="46323" y="116318"/>
                </a:lnTo>
                <a:cubicBezTo>
                  <a:pt x="44953" y="118212"/>
                  <a:pt x="42834" y="119383"/>
                  <a:pt x="40492" y="119583"/>
                </a:cubicBezTo>
                <a:cubicBezTo>
                  <a:pt x="38150" y="119782"/>
                  <a:pt x="35882" y="118910"/>
                  <a:pt x="34238" y="117265"/>
                </a:cubicBezTo>
                <a:lnTo>
                  <a:pt x="2342" y="85370"/>
                </a:lnTo>
                <a:cubicBezTo>
                  <a:pt x="-772" y="82255"/>
                  <a:pt x="-772" y="77197"/>
                  <a:pt x="2342" y="74082"/>
                </a:cubicBezTo>
                <a:cubicBezTo>
                  <a:pt x="5457" y="70967"/>
                  <a:pt x="10516" y="70967"/>
                  <a:pt x="13630" y="74082"/>
                </a:cubicBezTo>
                <a:lnTo>
                  <a:pt x="38922" y="99374"/>
                </a:lnTo>
                <a:lnTo>
                  <a:pt x="97231" y="19212"/>
                </a:lnTo>
                <a:cubicBezTo>
                  <a:pt x="99822" y="15649"/>
                  <a:pt x="104806" y="14851"/>
                  <a:pt x="108369" y="1744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6797199" y="4624827"/>
            <a:ext cx="98875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Bundle packages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188" y="5326525"/>
            <a:ext cx="5677373" cy="1530977"/>
          </a:xfrm>
          <a:custGeom>
            <a:avLst/>
            <a:gdLst/>
            <a:ahLst/>
            <a:cxnLst/>
            <a:rect l="l" t="t" r="r" b="b"/>
            <a:pathLst>
              <a:path w="5677373" h="1530977">
                <a:moveTo>
                  <a:pt x="95686" y="0"/>
                </a:moveTo>
                <a:lnTo>
                  <a:pt x="5581687" y="0"/>
                </a:lnTo>
                <a:cubicBezTo>
                  <a:pt x="5634533" y="0"/>
                  <a:pt x="5677373" y="42840"/>
                  <a:pt x="5677373" y="95686"/>
                </a:cubicBezTo>
                <a:lnTo>
                  <a:pt x="5677373" y="1435291"/>
                </a:lnTo>
                <a:cubicBezTo>
                  <a:pt x="5677373" y="1488137"/>
                  <a:pt x="5634533" y="1530977"/>
                  <a:pt x="5581687" y="1530977"/>
                </a:cubicBezTo>
                <a:lnTo>
                  <a:pt x="95686" y="1530977"/>
                </a:lnTo>
                <a:cubicBezTo>
                  <a:pt x="42840" y="1530977"/>
                  <a:pt x="0" y="1488137"/>
                  <a:pt x="0" y="1435291"/>
                </a:cubicBezTo>
                <a:lnTo>
                  <a:pt x="0" y="95686"/>
                </a:lnTo>
                <a:cubicBezTo>
                  <a:pt x="0" y="42875"/>
                  <a:pt x="42875" y="0"/>
                  <a:pt x="95686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82560" y="5517897"/>
            <a:ext cx="5366394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Overview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24843" y="5836850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95362" y="5916589"/>
            <a:ext cx="23921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0664" y="6283385"/>
            <a:ext cx="73359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50664" y="6474757"/>
            <a:ext cx="73359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Launch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761370" y="6155804"/>
            <a:ext cx="191372" cy="191372"/>
          </a:xfrm>
          <a:custGeom>
            <a:avLst/>
            <a:gdLst/>
            <a:ahLst/>
            <a:cxnLst/>
            <a:rect l="l" t="t" r="r" b="b"/>
            <a:pathLst>
              <a:path w="191372" h="191372">
                <a:moveTo>
                  <a:pt x="187859" y="104133"/>
                </a:moveTo>
                <a:cubicBezTo>
                  <a:pt x="192531" y="99461"/>
                  <a:pt x="192531" y="91874"/>
                  <a:pt x="187859" y="87201"/>
                </a:cubicBezTo>
                <a:lnTo>
                  <a:pt x="128055" y="27398"/>
                </a:lnTo>
                <a:cubicBezTo>
                  <a:pt x="123383" y="22725"/>
                  <a:pt x="115795" y="22725"/>
                  <a:pt x="111123" y="27398"/>
                </a:cubicBezTo>
                <a:cubicBezTo>
                  <a:pt x="106451" y="32070"/>
                  <a:pt x="106451" y="39657"/>
                  <a:pt x="111123" y="44330"/>
                </a:cubicBezTo>
                <a:lnTo>
                  <a:pt x="150519" y="83725"/>
                </a:lnTo>
                <a:lnTo>
                  <a:pt x="11961" y="83725"/>
                </a:lnTo>
                <a:cubicBezTo>
                  <a:pt x="5345" y="83725"/>
                  <a:pt x="0" y="89070"/>
                  <a:pt x="0" y="95686"/>
                </a:cubicBezTo>
                <a:cubicBezTo>
                  <a:pt x="0" y="102302"/>
                  <a:pt x="5345" y="107647"/>
                  <a:pt x="11961" y="107647"/>
                </a:cubicBezTo>
                <a:lnTo>
                  <a:pt x="150519" y="107647"/>
                </a:lnTo>
                <a:lnTo>
                  <a:pt x="111123" y="147043"/>
                </a:lnTo>
                <a:cubicBezTo>
                  <a:pt x="106451" y="151715"/>
                  <a:pt x="106451" y="159302"/>
                  <a:pt x="111123" y="163975"/>
                </a:cubicBezTo>
                <a:cubicBezTo>
                  <a:pt x="115795" y="168647"/>
                  <a:pt x="123383" y="168647"/>
                  <a:pt x="128055" y="163975"/>
                </a:cubicBezTo>
                <a:lnTo>
                  <a:pt x="187859" y="10417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3" name="Shape 51"/>
          <p:cNvSpPr/>
          <p:nvPr/>
        </p:nvSpPr>
        <p:spPr>
          <a:xfrm>
            <a:off x="8778865" y="5836850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848138" y="5916589"/>
            <a:ext cx="247189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32428" y="6283385"/>
            <a:ext cx="67777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32428" y="6474757"/>
            <a:ext cx="67777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Rollout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987649" y="6155804"/>
            <a:ext cx="191372" cy="191372"/>
          </a:xfrm>
          <a:custGeom>
            <a:avLst/>
            <a:gdLst/>
            <a:ahLst/>
            <a:cxnLst/>
            <a:rect l="l" t="t" r="r" b="b"/>
            <a:pathLst>
              <a:path w="191372" h="191372">
                <a:moveTo>
                  <a:pt x="187859" y="104133"/>
                </a:moveTo>
                <a:cubicBezTo>
                  <a:pt x="192531" y="99461"/>
                  <a:pt x="192531" y="91874"/>
                  <a:pt x="187859" y="87201"/>
                </a:cubicBezTo>
                <a:lnTo>
                  <a:pt x="128055" y="27398"/>
                </a:lnTo>
                <a:cubicBezTo>
                  <a:pt x="123383" y="22725"/>
                  <a:pt x="115795" y="22725"/>
                  <a:pt x="111123" y="27398"/>
                </a:cubicBezTo>
                <a:cubicBezTo>
                  <a:pt x="106451" y="32070"/>
                  <a:pt x="106451" y="39657"/>
                  <a:pt x="111123" y="44330"/>
                </a:cubicBezTo>
                <a:lnTo>
                  <a:pt x="150519" y="83725"/>
                </a:lnTo>
                <a:lnTo>
                  <a:pt x="11961" y="83725"/>
                </a:lnTo>
                <a:cubicBezTo>
                  <a:pt x="5345" y="83725"/>
                  <a:pt x="0" y="89070"/>
                  <a:pt x="0" y="95686"/>
                </a:cubicBezTo>
                <a:cubicBezTo>
                  <a:pt x="0" y="102302"/>
                  <a:pt x="5345" y="107647"/>
                  <a:pt x="11961" y="107647"/>
                </a:cubicBezTo>
                <a:lnTo>
                  <a:pt x="150519" y="107647"/>
                </a:lnTo>
                <a:lnTo>
                  <a:pt x="111123" y="147043"/>
                </a:lnTo>
                <a:cubicBezTo>
                  <a:pt x="106451" y="151715"/>
                  <a:pt x="106451" y="159302"/>
                  <a:pt x="111123" y="163975"/>
                </a:cubicBezTo>
                <a:cubicBezTo>
                  <a:pt x="115795" y="168647"/>
                  <a:pt x="123383" y="168647"/>
                  <a:pt x="128055" y="163975"/>
                </a:cubicBezTo>
                <a:lnTo>
                  <a:pt x="187859" y="10417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Shape 56"/>
          <p:cNvSpPr/>
          <p:nvPr/>
        </p:nvSpPr>
        <p:spPr>
          <a:xfrm>
            <a:off x="11094268" y="5836850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186383" y="5916589"/>
            <a:ext cx="199346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58625" y="6283385"/>
            <a:ext cx="85320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58625" y="6474757"/>
            <a:ext cx="85320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$3-5M Impact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 Resort Ticket Pricing Optimization</dc:title>
  <dc:subject>Ski Resort Ticket Pricing Optimization</dc:subject>
  <dc:creator>Kimi</dc:creator>
  <cp:lastModifiedBy>Kimi</cp:lastModifiedBy>
  <cp:revision>1</cp:revision>
  <dcterms:created xsi:type="dcterms:W3CDTF">2026-03-06T17:32:41Z</dcterms:created>
  <dcterms:modified xsi:type="dcterms:W3CDTF">2026-03-06T17:32:41Z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{"Label":"Ski Resort Ticket Pricing Optimization","ContentProducer":"001191110108MACG2KBH8F10000","ProduceID":"19cc430d-bf52-8ae7-8000-0000221f5aab","ReservedCode1":"","ContentPropagator":"001191110108MACG2KBH8F20000","PropagateID":"19cc430d-bf52-8ae7-8000-0000221f5aab","ReservedCode2":""}</vt:lpwstr>
  </property>
</Properties>
</file>